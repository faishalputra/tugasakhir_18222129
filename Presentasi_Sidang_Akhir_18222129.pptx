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15585"/>
            <a:ext cx="1218895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228600"/>
            <a:ext cx="3931920" cy="1417320"/>
          </a:xfrm>
          <a:prstGeom prst="rect">
            <a:avLst/>
          </a:prstGeom>
          <a:solidFill>
            <a:srgbClr val="F4F6FA"/>
          </a:solidFill>
          <a:ln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7086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07080"/>
                </a:solidFill>
                <a:latin typeface="Calibri"/>
              </a:rPr>
              <a:t>Letakkan logo/gambar di sini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25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8BBFF"/>
                </a:solidFill>
                <a:latin typeface="Calibri"/>
              </a:rPr>
              <a:t>II4092  ·  TUGAS AKHIR  |  SIDANG TUGAS AKHIR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Pengembangan Aplikasi Pencarian Peluang Kolaborasi Mahasiswa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33472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05C1A"/>
                </a:solidFill>
                <a:latin typeface="Calibri"/>
              </a:rPr>
              <a:t>Modul Rekomendasi People-to-Project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72384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FF"/>
                </a:solidFill>
                <a:latin typeface="Calibri"/>
              </a:rPr>
              <a:t>menggunakan Affinity-Based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53328"/>
            <a:ext cx="10725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2F5C"/>
                </a:solidFill>
                <a:latin typeface="Calibri"/>
              </a:rPr>
              <a:t>Institut Teknologi Bandung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15585"/>
            <a:ext cx="1218895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BBFF"/>
                </a:solidFill>
                <a:latin typeface="Calibri"/>
              </a:rPr>
              <a:t>II4092  ·  TUGAS AKHIR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SIDANG TUGAS AKHIR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Pengembangan Aplikasi Pencarian Peluang Kolaborasi Mahasiswa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48256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BCCFF"/>
                </a:solidFill>
                <a:latin typeface="Calibri"/>
              </a:rPr>
              <a:t>Modul Rekomendasi People-to-Project menggunakan Affinity-Based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53328"/>
            <a:ext cx="10725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2F5C"/>
                </a:solidFill>
                <a:latin typeface="Calibri"/>
              </a:rPr>
              <a:t>Institut Teknologi Bandung  ·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Pendahuluan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Studi Literatur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Analisis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Perancangan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Evaluasi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Penutup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3/41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1463040"/>
            <a:ext cx="121889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2F5C"/>
                </a:solidFill>
                <a:latin typeface="Calibri"/>
              </a:rPr>
              <a:t>Muhammad Faishal Putra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2176272"/>
            <a:ext cx="12188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05C1A"/>
                </a:solidFill>
                <a:latin typeface="Calibri"/>
              </a:rPr>
              <a:t>18222129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2633472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07080"/>
                </a:solidFill>
                <a:latin typeface="Calibri"/>
              </a:rPr>
              <a:t>Program Studi Sistem dan Teknologi Informasi  ·  STEI ITB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3154680"/>
            <a:ext cx="3931920" cy="27432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0" y="329184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2E"/>
                </a:solidFill>
                <a:latin typeface="Calibri"/>
              </a:rPr>
              <a:t>Dosen Pembimbing  ·  Dr. Ir. Arry Akhmad Arman, M.T.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3675887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07080"/>
                </a:solidFill>
                <a:latin typeface="Calibri"/>
              </a:rPr>
              <a:t>Dosen Penguji  ·  ( nama dosen penguji 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5C1A"/>
                </a:solidFill>
                <a:latin typeface="Calibr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Studi Literatur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Perancangan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Penutup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4/41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01168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5720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PENDAHULUAN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65760"/>
            <a:ext cx="1017727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41248"/>
            <a:ext cx="12188952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420624"/>
            <a:ext cx="9902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F5C"/>
                </a:solidFill>
                <a:latin typeface="Calibri"/>
              </a:rPr>
              <a:t>Pencarian kegiatan kolaboratif masih bergantung pada jaringan sosial pribadi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868680"/>
            <a:ext cx="2633472" cy="2011680"/>
          </a:xfrm>
          <a:prstGeom prst="rect">
            <a:avLst/>
          </a:prstGeom>
          <a:solidFill>
            <a:srgbClr val="0D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96012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1435608"/>
            <a:ext cx="2633472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0F0"/>
                </a:solidFill>
                <a:latin typeface="Calibri"/>
              </a:rPr>
              <a:t>mahasiswa aktif menjadi
responden survei
pendahuluan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4680" y="868680"/>
            <a:ext cx="2633472" cy="2011680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80" y="96012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91,8%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1435608"/>
            <a:ext cx="2633472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0F0"/>
                </a:solidFill>
                <a:latin typeface="Calibri"/>
              </a:rPr>
              <a:t>merasakan kesulitan
sedang hingga tinggi
(skala 3–5)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868680"/>
            <a:ext cx="2633472" cy="201168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9320" y="96012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59,3%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1435608"/>
            <a:ext cx="2633472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0F0"/>
                </a:solidFill>
                <a:latin typeface="Calibri"/>
              </a:rPr>
              <a:t>menemukan kegiatan
lewat teman dekat
atau kenalan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23960" y="868680"/>
            <a:ext cx="2633472" cy="2011680"/>
          </a:xfrm>
          <a:prstGeom prst="rect">
            <a:avLst/>
          </a:prstGeom>
          <a:solidFill>
            <a:srgbClr val="0E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3960" y="96012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12,8%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1435608"/>
            <a:ext cx="2633472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0F0"/>
                </a:solidFill>
                <a:latin typeface="Calibri"/>
              </a:rPr>
              <a:t>saja yang menggunakan
platform khusus
yang terstruktur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614416"/>
            <a:ext cx="11548872" cy="87782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" y="568756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5C1A"/>
                </a:solidFill>
                <a:latin typeface="Calibri"/>
              </a:rPr>
              <a:t>KEY  TAKEAWAY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" y="5925312"/>
            <a:ext cx="112745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  <a:latin typeface="Calibri"/>
              </a:rPr>
              <a:t>Akses terhadap peluang kolaborasi sangat ditentukan oleh besar-kecilnya jaringan sosial pribadi. Mahasiswa berkompetensi setara tetapi berjaringan sempit berisiko tertinggal karena informasi peluang tidak terdistribusi merata melalui platform terpusat.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5C1A"/>
                </a:solidFill>
                <a:latin typeface="Calibr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Studi Literatur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Perancangan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Penutup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5/41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01168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5720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PENDAHULUAN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65760"/>
            <a:ext cx="1017727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41248"/>
            <a:ext cx="12188952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420624"/>
            <a:ext cx="9902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F5C"/>
                </a:solidFill>
                <a:latin typeface="Calibri"/>
              </a:rPr>
              <a:t>Dua akar masalah yang saling berkaitan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795528"/>
            <a:ext cx="9902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7080"/>
                </a:solidFill>
                <a:latin typeface="Calibri"/>
              </a:rPr>
              <a:t>Hambatan bukan hanya soal ketersediaan kanal, tetapi juga ketidakmampuan menilai kecocokan sebelum memutuskan bergabung.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868680"/>
            <a:ext cx="5623560" cy="475488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9235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960120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Keterbatasan Akses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1344168"/>
            <a:ext cx="5623560" cy="21031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" y="1472184"/>
            <a:ext cx="529437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2E"/>
                </a:solidFill>
                <a:latin typeface="Calibri"/>
              </a:rPr>
              <a:t>Pencarian berlangsung informal melalui grup percakapan, media sosial, dan relasi personal. Tidak ada platform terpusat, sehingga informasi peluang hanya beredar dalam lingkaran sosial tertentu.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447288"/>
            <a:ext cx="5623560" cy="62179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" y="3502152"/>
            <a:ext cx="1188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59,3%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3538728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mengandalkan teman/kenalan
sebagai sumber informasi utama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868680"/>
            <a:ext cx="562356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9235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960120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Sulit Menilai Kecocokan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1344168"/>
            <a:ext cx="5623560" cy="21031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2" y="1472184"/>
            <a:ext cx="529437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2E"/>
                </a:solidFill>
                <a:latin typeface="Calibri"/>
              </a:rPr>
              <a:t>Tanpa profil terstruktur, pemilihan kegiatan dilakukan secara intuitif. Ketidakcocokan minat, keterampilan, atau gaya kerja baru terasa setelah mahasiswa bergabung dengan kegiatan tersebut.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447288"/>
            <a:ext cx="5623560" cy="621792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91656" y="3502152"/>
            <a:ext cx="1188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64%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3538728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menyebut keterampilan sebagai
faktor penentu kecocokan terpenting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5C1A"/>
                </a:solidFill>
                <a:latin typeface="Calibr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Studi Literatur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Perancangan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Penutup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6/41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01168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5720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PENDAHULUAN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65760"/>
            <a:ext cx="1017727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41248"/>
            <a:ext cx="12188952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420624"/>
            <a:ext cx="9902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F5C"/>
                </a:solidFill>
                <a:latin typeface="Calibri"/>
              </a:rPr>
              <a:t>Rumusan masalah &amp; tujuan penelitian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795528"/>
            <a:ext cx="9902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7080"/>
                </a:solidFill>
                <a:latin typeface="Calibri"/>
              </a:rPr>
              <a:t>Setiap tujuan menjawab langsung satu rumusan masalah.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868680"/>
            <a:ext cx="5623560" cy="38404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" y="932688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Rumusan Masalah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1362456"/>
            <a:ext cx="5623560" cy="11704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1362456"/>
            <a:ext cx="54864" cy="1170432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4904" y="1362456"/>
            <a:ext cx="457200" cy="45720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4" y="139903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1453896"/>
            <a:ext cx="48737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Pencarian kegiatan kolaborasi masih berlangsung secara informal dan bergantung pada jaringan sosial pribadi, sehingga mahasiswa berjaringan terbatas kesulitan mengakses peluang kolaborasi yang lebih luas.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660904"/>
            <a:ext cx="5623560" cy="11704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2660904"/>
            <a:ext cx="54864" cy="1170432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4904" y="2660904"/>
            <a:ext cx="457200" cy="45720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" y="269748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2752344"/>
            <a:ext cx="48737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Mahasiswa kesulitan menilai kecocokan profil diri secara objektif terhadap kegiatan yang tersedia sebelum memutuskan untuk mendaftar.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868680"/>
            <a:ext cx="5623560" cy="384048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91656" y="932688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Tujuan Penelitian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1362456"/>
            <a:ext cx="5623560" cy="11704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1362456"/>
            <a:ext cx="54864" cy="11704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18504" y="1362456"/>
            <a:ext cx="457200" cy="457200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18504" y="139903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1453896"/>
            <a:ext cx="48737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Mengembangkan modul rekomendasi People-to-Project pada aplikasi kolaborasi mahasiswa yang memungkinkan mahasiswa menemukan kegiatan melalui platform terpusat.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2660904"/>
            <a:ext cx="5623560" cy="11704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2660904"/>
            <a:ext cx="54864" cy="11704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18504" y="2660904"/>
            <a:ext cx="457200" cy="457200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18504" y="269748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2752344"/>
            <a:ext cx="48737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Mengembangkan mekanisme Affinity-Based Matching yang menghitung dan menyajikan tingkat kecocokan mahasiswa dengan kegiatan berdasarkan atribut profil yang relevan.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5C1A"/>
                </a:solidFill>
                <a:latin typeface="Calibr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Studi Literatur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Perancangan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Penutup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7/41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01168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5720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PENDAHULUAN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65760"/>
            <a:ext cx="1017727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41248"/>
            <a:ext cx="12188952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420624"/>
            <a:ext cx="9902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F5C"/>
                </a:solidFill>
                <a:latin typeface="Calibri"/>
              </a:rPr>
              <a:t>Metodologi: SDLC Waterfall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795528"/>
            <a:ext cx="9902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7080"/>
                </a:solidFill>
                <a:latin typeface="Calibri"/>
              </a:rPr>
              <a:t>Model sekuensial dari Sommerville (2016) — setiap fase menghasilkan dokumen yang menjadi fondasi fase berikutnya.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868680"/>
            <a:ext cx="2578608" cy="34747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914400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5C1A"/>
                </a:solidFill>
                <a:latin typeface="Calibri"/>
              </a:rPr>
              <a:t>FASE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1216152"/>
            <a:ext cx="2578608" cy="80467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1252728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B2F5C"/>
                </a:solidFill>
                <a:latin typeface="Calibri"/>
              </a:rPr>
              <a:t>Requirement
Definition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020824"/>
            <a:ext cx="2578608" cy="21945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2130552"/>
            <a:ext cx="235915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Survei mahasiswa →
kebutuhan fungsional
&amp; nonfungsional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90088" y="1527048"/>
            <a:ext cx="237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05C1A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27832" y="868680"/>
            <a:ext cx="2578608" cy="34747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19272" y="914400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5C1A"/>
                </a:solidFill>
                <a:latin typeface="Calibri"/>
              </a:rPr>
              <a:t>FASE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27832" y="1216152"/>
            <a:ext cx="2578608" cy="80467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19272" y="1252728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B2F5C"/>
                </a:solidFill>
                <a:latin typeface="Calibri"/>
              </a:rPr>
              <a:t>System &amp;
Software Design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27832" y="2020824"/>
            <a:ext cx="2578608" cy="21945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60" y="2130552"/>
            <a:ext cx="235915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Arsitektur → UML →
logika AffinityEngine
→ antarmuka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880" y="1527048"/>
            <a:ext cx="237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05C1A"/>
                </a:solidFill>
                <a:latin typeface="Calibr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35624" y="868680"/>
            <a:ext cx="2578608" cy="34747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7064" y="914400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5C1A"/>
                </a:solidFill>
                <a:latin typeface="Calibri"/>
              </a:rPr>
              <a:t>FASE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35624" y="1216152"/>
            <a:ext cx="2578608" cy="80467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7064" y="1252728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B2F5C"/>
                </a:solidFill>
                <a:latin typeface="Calibri"/>
              </a:rPr>
              <a:t>Implementation &amp;
Unit Testing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35624" y="2020824"/>
            <a:ext cx="2578608" cy="21945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45352" y="2130552"/>
            <a:ext cx="235915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Realisasi fitur modul
→ pengujian unit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05672" y="1527048"/>
            <a:ext cx="237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05C1A"/>
                </a:solidFill>
                <a:latin typeface="Calibri"/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43416" y="868680"/>
            <a:ext cx="2578608" cy="34747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34856" y="914400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5C1A"/>
                </a:solidFill>
                <a:latin typeface="Calibri"/>
              </a:rPr>
              <a:t>FASE 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43416" y="1216152"/>
            <a:ext cx="2578608" cy="80467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34856" y="1252728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B2F5C"/>
                </a:solidFill>
                <a:latin typeface="Calibri"/>
              </a:rPr>
              <a:t>Integration &amp;
System Testing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43416" y="2020824"/>
            <a:ext cx="2578608" cy="21945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53144" y="2130552"/>
            <a:ext cx="235915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Integrasi 3 modul
→ pengujian sistem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416552"/>
            <a:ext cx="960120" cy="420624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48056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ALASAN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600" y="4416552"/>
            <a:ext cx="10424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07080"/>
                </a:solidFill>
                <a:latin typeface="Calibri"/>
              </a:rPr>
              <a:t>Waterfall tepat ketika beberapa tim mengerjakan modul terpisah namun harus terintegrasi di akhir — persis kondisi proyek ini: tiga modul (People-to-Project, People-to-People, Team Formation) dikerjakan tiga anggota tim secara independen.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5C1A"/>
                </a:solidFill>
                <a:latin typeface="Calibri"/>
              </a:rPr>
              <a:t>Studi Literatur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Perancangan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Penutup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8/41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51460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57200"/>
            <a:ext cx="23500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STUDI LITERATUR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4600" y="365760"/>
            <a:ext cx="967435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41248"/>
            <a:ext cx="12188952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15768" y="420624"/>
            <a:ext cx="94000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F5C"/>
                </a:solidFill>
                <a:latin typeface="Calibri"/>
              </a:rPr>
              <a:t>Landasan teori yang menopang perancangan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15768" y="795528"/>
            <a:ext cx="9400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7080"/>
                </a:solidFill>
                <a:latin typeface="Calibri"/>
              </a:rPr>
              <a:t>Enam kajian utama menjadi dasar analisis masalah, perumusan solusi, dan pemilihan evaluasi.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868680"/>
            <a:ext cx="3547872" cy="53035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923544"/>
            <a:ext cx="3328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Kolaborasi
Mahasiswa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1399032"/>
            <a:ext cx="3547872" cy="11155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1490472"/>
            <a:ext cx="33284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Katalisator pengembangan diri; keberhasilan ditentukan keselarasan profil anggota.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9392" y="868680"/>
            <a:ext cx="3547872" cy="530352"/>
          </a:xfrm>
          <a:prstGeom prst="rect">
            <a:avLst/>
          </a:prstGeom>
          <a:solidFill>
            <a:srgbClr val="0D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923544"/>
            <a:ext cx="3328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People-to-Project
Recommendation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9392" y="1399032"/>
            <a:ext cx="3547872" cy="11155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1490472"/>
            <a:ext cx="33284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Mencocokkan individu dengan kegiatan/proyek — bukan antarindividu.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38744" y="868680"/>
            <a:ext cx="3547872" cy="530352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48472" y="923544"/>
            <a:ext cx="3328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Person-Job Fit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38744" y="1399032"/>
            <a:ext cx="3547872" cy="11155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48472" y="1490472"/>
            <a:ext cx="33284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Demands-Abilities Fit dan Needs-Supplies Fit (Kristof-Brown et al., 2005).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697480"/>
            <a:ext cx="3547872" cy="530352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" y="2752344"/>
            <a:ext cx="3328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Sistem
Rekomendasi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227832"/>
            <a:ext cx="3547872" cy="11155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" y="3319272"/>
            <a:ext cx="33284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Tiga paradigma: Content-Based, Collaborative Filtering, Knowledge-Based.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79392" y="2697480"/>
            <a:ext cx="3547872" cy="530352"/>
          </a:xfrm>
          <a:prstGeom prst="rect">
            <a:avLst/>
          </a:prstGeom>
          <a:solidFill>
            <a:srgbClr val="0E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2752344"/>
            <a:ext cx="3328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Affinity-Based
Matching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9392" y="3227832"/>
            <a:ext cx="3547872" cy="11155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3319272"/>
            <a:ext cx="33284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Pembobotan atribut eksplisit; transparan, dapat dijelaskan, tahan cold start.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38744" y="2697480"/>
            <a:ext cx="3547872" cy="530352"/>
          </a:xfrm>
          <a:prstGeom prst="rect">
            <a:avLst/>
          </a:prstGeom>
          <a:solidFill>
            <a:srgbClr val="1E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48472" y="2752344"/>
            <a:ext cx="3328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Weighted Scoring
&amp; ROC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38744" y="3227832"/>
            <a:ext cx="3547872" cy="11155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48472" y="3319272"/>
            <a:ext cx="33284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Rank Order Centroid untuk menurunkan bobot dari peringkat survei (Hatefi, 2023).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Studi Literatur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5C1A"/>
                </a:solidFill>
                <a:latin typeface="Calibri"/>
              </a:rPr>
              <a:t>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Perancangan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Penutup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9/41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01168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5720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ANALISIS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65760"/>
            <a:ext cx="1017727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41248"/>
            <a:ext cx="12188952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420624"/>
            <a:ext cx="9902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F5C"/>
                </a:solidFill>
                <a:latin typeface="Calibri"/>
              </a:rPr>
              <a:t>Survei menegaskan masalah sekaligus peluang solusi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795528"/>
            <a:ext cx="9902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7080"/>
                </a:solidFill>
                <a:latin typeface="Calibri"/>
              </a:rPr>
              <a:t>86 responden dari beragam program studi dan semester (convenience sampling).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868680"/>
            <a:ext cx="2633472" cy="1828800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96012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72,8%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1435608"/>
            <a:ext cx="263347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0F0"/>
                </a:solidFill>
                <a:latin typeface="Calibri"/>
              </a:rPr>
              <a:t>bergantung pada teman
dekat &amp; kenalan untuk
menemukan kegiatan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54680" y="868680"/>
            <a:ext cx="2633472" cy="182880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54680" y="96012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91,8%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1435608"/>
            <a:ext cx="263347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0F0"/>
                </a:solidFill>
                <a:latin typeface="Calibri"/>
              </a:rPr>
              <a:t>cukup sering hingga selalu
kesulitan menemukan
kegiatan yang sesuai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868680"/>
            <a:ext cx="2633472" cy="1828800"/>
          </a:xfrm>
          <a:prstGeom prst="rect">
            <a:avLst/>
          </a:prstGeom>
          <a:solidFill>
            <a:srgbClr val="0D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9320" y="96012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86%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1435608"/>
            <a:ext cx="263347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0F0"/>
                </a:solidFill>
                <a:latin typeface="Calibri"/>
              </a:rPr>
              <a:t>setuju fitur rekomendasi
berbasis profil
akan bermanfaat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23960" y="868680"/>
            <a:ext cx="2633472" cy="1828800"/>
          </a:xfrm>
          <a:prstGeom prst="rect">
            <a:avLst/>
          </a:prstGeom>
          <a:solidFill>
            <a:srgbClr val="0E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60" y="96012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80,2%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1435608"/>
            <a:ext cx="263347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0F0"/>
                </a:solidFill>
                <a:latin typeface="Calibri"/>
              </a:rPr>
              <a:t>tertarik menggunakan
fitur feed rekomendasi
People-to-Project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862072"/>
            <a:ext cx="11548872" cy="87782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2935224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5C1A"/>
                </a:solidFill>
                <a:latin typeface="Calibri"/>
              </a:rPr>
              <a:t>KEY  TAKEAWAY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" y="3172968"/>
            <a:ext cx="112745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  <a:latin typeface="Calibri"/>
              </a:rPr>
              <a:t>Responden mengindikasikan lima atribut penting untuk menilai kecocokan kegiatan — keterampilan (64%), minat (53,5%), ketersediaan waktu (44,2%), pengalaman (37,2%), dan gaya kerja (24,4%) — yang menjadi masukan langsung bagi perancangan atribut profil dan AffinityEngine.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Studi Literatur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5C1A"/>
                </a:solidFill>
                <a:latin typeface="Calibri"/>
              </a:rPr>
              <a:t>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Perancangan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Penutup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10/41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01168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5720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ANALISIS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65760"/>
            <a:ext cx="1017727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41248"/>
            <a:ext cx="12188952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420624"/>
            <a:ext cx="9902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F5C"/>
                </a:solidFill>
                <a:latin typeface="Calibri"/>
              </a:rPr>
              <a:t>Tiga kelompok masalah pengguna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795528"/>
            <a:ext cx="9902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7080"/>
                </a:solidFill>
                <a:latin typeface="Calibri"/>
              </a:rPr>
              <a:t>Menjadi dasar penurunan kebutuhan sistem.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868680"/>
            <a:ext cx="54864" cy="1316736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4" y="868680"/>
            <a:ext cx="11494008" cy="131673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4904" y="868680"/>
            <a:ext cx="640080" cy="60350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" y="905256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960120"/>
            <a:ext cx="10634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F5C"/>
                </a:solidFill>
                <a:latin typeface="Calibri"/>
              </a:rPr>
              <a:t>Bergantung Jaringan Sosial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1307592"/>
            <a:ext cx="106344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Pencarian informal membuat mahasiswa berjaringan terbatas kesulitan mengakses peluang. Belum ada platform terpusat lintas latar belakang akademik.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313432"/>
            <a:ext cx="54864" cy="1316736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4904" y="2313432"/>
            <a:ext cx="11494008" cy="131673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4904" y="2313432"/>
            <a:ext cx="640080" cy="603504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" y="2350008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2404872"/>
            <a:ext cx="10634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5C1A"/>
                </a:solidFill>
                <a:latin typeface="Calibri"/>
              </a:rPr>
              <a:t>Tidak Ada Penilaian Objektif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2752344"/>
            <a:ext cx="106344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Keputusan memilih kegiatan dilakukan intuitif tanpa profil terstruktur, berpotensi menghasilkan ketidakcocokan minat, skill, atau gaya kerja.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758184"/>
            <a:ext cx="54864" cy="1316736"/>
          </a:xfrm>
          <a:prstGeom prst="rect">
            <a:avLst/>
          </a:prstGeom>
          <a:solidFill>
            <a:srgbClr val="0D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4904" y="3758184"/>
            <a:ext cx="11494008" cy="131673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4904" y="3758184"/>
            <a:ext cx="640080" cy="603504"/>
          </a:xfrm>
          <a:prstGeom prst="rect">
            <a:avLst/>
          </a:prstGeom>
          <a:solidFill>
            <a:srgbClr val="0D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3794760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3849624"/>
            <a:ext cx="10634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62A8"/>
                </a:solidFill>
                <a:latin typeface="Calibri"/>
              </a:rPr>
              <a:t>Butuh Transparansi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4197096"/>
            <a:ext cx="106344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Rekomendasi otomatis sulit dipercaya tanpa penjelasan mengapa suatu kegiatan direkomendasikan — explainability mendorong tindakan nyata dari pengguna.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Studi Literatur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5C1A"/>
                </a:solidFill>
                <a:latin typeface="Calibri"/>
              </a:rPr>
              <a:t>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Perancangan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Penutup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11/41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01168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5720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ANALISIS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65760"/>
            <a:ext cx="1017727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41248"/>
            <a:ext cx="12188952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420624"/>
            <a:ext cx="9902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F5C"/>
                </a:solidFill>
                <a:latin typeface="Calibri"/>
              </a:rPr>
              <a:t>Penurunan kebutuhan yang terlacak penuh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795528"/>
            <a:ext cx="9902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7080"/>
                </a:solidFill>
                <a:latin typeface="Calibri"/>
              </a:rPr>
              <a:t>Setiap kebutuhan dapat ditelusuri kembali ke masalah pengguna.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1143000"/>
            <a:ext cx="2286000" cy="457200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1636776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B2F5C"/>
                </a:solidFill>
                <a:latin typeface="Calibri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240487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2E"/>
                </a:solidFill>
                <a:latin typeface="Calibri"/>
              </a:rPr>
              <a:t>User Needs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27523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7080"/>
                </a:solidFill>
                <a:latin typeface="Calibri"/>
              </a:rPr>
              <a:t>UN-01 – UN-08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73552" y="2240280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8E0EB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11880" y="1143000"/>
            <a:ext cx="2286000" cy="457200"/>
          </a:xfrm>
          <a:prstGeom prst="rect">
            <a:avLst/>
          </a:prstGeom>
          <a:solidFill>
            <a:srgbClr val="0D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80" y="1636776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D62A8"/>
                </a:solidFill>
                <a:latin typeface="Calibr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240487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2E"/>
                </a:solidFill>
                <a:latin typeface="Calibri"/>
              </a:rPr>
              <a:t>User Requirements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27523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7080"/>
                </a:solidFill>
                <a:latin typeface="Calibri"/>
              </a:rPr>
              <a:t>UR-01 – UR-08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62472" y="2240280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8E0EB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1143000"/>
            <a:ext cx="2286000" cy="45720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636776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E05C1A"/>
                </a:solidFill>
                <a:latin typeface="Calibri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40487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2E"/>
                </a:solidFill>
                <a:latin typeface="Calibri"/>
              </a:rPr>
              <a:t>Kebutuhan Fungsional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7523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7080"/>
                </a:solidFill>
                <a:latin typeface="Calibri"/>
              </a:rPr>
              <a:t>FR-01 – FR-11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1392" y="2240280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8E0EB"/>
                </a:solidFill>
                <a:latin typeface="Calibri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89720" y="1143000"/>
            <a:ext cx="2286000" cy="457200"/>
          </a:xfrm>
          <a:prstGeom prst="rect">
            <a:avLst/>
          </a:prstGeom>
          <a:solidFill>
            <a:srgbClr val="0E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9720" y="1636776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E7A8A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240487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2E"/>
                </a:solidFill>
                <a:latin typeface="Calibri"/>
              </a:rPr>
              <a:t>Nonfungsional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27523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7080"/>
                </a:solidFill>
                <a:latin typeface="Calibri"/>
              </a:rPr>
              <a:t>NFR-01 – NFR-04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3794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7080"/>
                </a:solidFill>
                <a:latin typeface="Calibri"/>
              </a:rPr>
              <a:t>+ 4 Nonfungsional terletak di track paralel (bukan sekuensial dengan FR)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Studi Literatur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5C1A"/>
                </a:solidFill>
                <a:latin typeface="Calibri"/>
              </a:rPr>
              <a:t>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Perancangan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Penutup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12/41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01168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5720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ANALISIS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65760"/>
            <a:ext cx="1017727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41248"/>
            <a:ext cx="12188952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420624"/>
            <a:ext cx="9902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F5C"/>
                </a:solidFill>
                <a:latin typeface="Calibri"/>
              </a:rPr>
              <a:t>Sebelas kebutuhan fungsional modul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795528"/>
            <a:ext cx="9902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7080"/>
                </a:solidFill>
                <a:latin typeface="Calibri"/>
              </a:rPr>
              <a:t>Setiap FR terlacak ke use case yang diimplementasikan.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868680"/>
            <a:ext cx="914400" cy="402336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91440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FR-01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868680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E"/>
                </a:solidFill>
                <a:latin typeface="Calibri"/>
              </a:rPr>
              <a:t>Mengumpulkan, menyimpan, memperbarui &amp; menampilkan data profil kolaboratif mahasiswa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1380744"/>
            <a:ext cx="914400" cy="402336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1426464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FR-02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1380744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E"/>
                </a:solidFill>
                <a:latin typeface="Calibri"/>
              </a:rPr>
              <a:t>Mencocokkan profil mahasiswa dengan kegiatan menggunakan Affinity-Based Matching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1892808"/>
            <a:ext cx="914400" cy="402336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193852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FR-03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1892808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E"/>
                </a:solidFill>
                <a:latin typeface="Calibri"/>
              </a:rPr>
              <a:t>Menampilkan feed rekomendasi kegiatan terurut berdasarkan AffinityScore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404872"/>
            <a:ext cx="914400" cy="402336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2450592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FR-04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2404872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E"/>
                </a:solidFill>
                <a:latin typeface="Calibri"/>
              </a:rPr>
              <a:t>Menampilkan halaman detail kegiatan beserta breakdown skor tiap atribut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916936"/>
            <a:ext cx="914400" cy="402336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96265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FR-05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2916936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E"/>
                </a:solidFill>
                <a:latin typeface="Calibri"/>
              </a:rPr>
              <a:t>Menyediakan alur pendaftaran kegiatan dari halaman detail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429000"/>
            <a:ext cx="914400" cy="402336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347472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FR-06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3429000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E"/>
                </a:solidFill>
                <a:latin typeface="Calibri"/>
              </a:rPr>
              <a:t>Menampilkan status dan riwayat pendaftaran kegiatan mahasiswa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868680"/>
            <a:ext cx="914400" cy="402336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91440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FR-07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868680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E"/>
                </a:solidFill>
                <a:latin typeface="Calibri"/>
              </a:rPr>
              <a:t>Menyediakan form pembuatan kegiatan dengan tag kategori dan persyaratan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1380744"/>
            <a:ext cx="914400" cy="402336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1426464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FR-08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1380744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E"/>
                </a:solidFill>
                <a:latin typeface="Calibri"/>
              </a:rPr>
              <a:t>Menampilkan daftar pendaftar bagi pembuat kegiatan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1892808"/>
            <a:ext cx="914400" cy="402336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193852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FR-09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9480" y="1892808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E"/>
                </a:solidFill>
                <a:latin typeface="Calibri"/>
              </a:rPr>
              <a:t>Menampilkan badge indikator kecocokan (hijau/kuning/abu-abu) pada tiap kegiatan di feed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2404872"/>
            <a:ext cx="914400" cy="402336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63640" y="2450592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FR-10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2404872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E"/>
                </a:solidFill>
                <a:latin typeface="Calibri"/>
              </a:rPr>
              <a:t>Menangani kondisi tidak ada kegiatan yang memenuhi threshold AffinityScore 30%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2916936"/>
            <a:ext cx="914400" cy="402336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63640" y="296265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FR-11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9480" y="2916936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E"/>
                </a:solidFill>
                <a:latin typeface="Calibri"/>
              </a:rPr>
              <a:t>Mengatur autentikasi pengguna: register, login, dan logout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Studi Literatur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5C1A"/>
                </a:solidFill>
                <a:latin typeface="Calibri"/>
              </a:rPr>
              <a:t>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Perancangan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Penutup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13/41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01168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5720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ANALISIS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65760"/>
            <a:ext cx="1017727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41248"/>
            <a:ext cx="12188952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420624"/>
            <a:ext cx="9902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F5C"/>
                </a:solidFill>
                <a:latin typeface="Calibri"/>
              </a:rPr>
              <a:t>Empat kebutuhan nonfungsional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795528"/>
            <a:ext cx="9902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7080"/>
                </a:solidFill>
                <a:latin typeface="Calibri"/>
              </a:rPr>
              <a:t>Aspek kualitas yang memastikan sistem nyaman, cepat, andal, dan aman.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868680"/>
            <a:ext cx="5303520" cy="493776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960120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05C1A"/>
                </a:solidFill>
                <a:latin typeface="Calibri"/>
              </a:rPr>
              <a:t>NFR-01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960120"/>
            <a:ext cx="4187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Usability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1362456"/>
            <a:ext cx="5303520" cy="12984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" y="1490472"/>
            <a:ext cx="504748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2E"/>
                </a:solidFill>
                <a:latin typeface="Calibri"/>
              </a:rPr>
              <a:t>Antarmuka intuitif; mahasiswa dapat memahami dan menggunakan sistem tanpa pelatihan atau panduan khusus.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868680"/>
            <a:ext cx="5303520" cy="493776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960120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05C1A"/>
                </a:solidFill>
                <a:latin typeface="Calibri"/>
              </a:rPr>
              <a:t>NFR-02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960120"/>
            <a:ext cx="4187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Performance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1362456"/>
            <a:ext cx="5303520" cy="12984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1656" y="1490472"/>
            <a:ext cx="504748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2E"/>
                </a:solidFill>
                <a:latin typeface="Calibri"/>
              </a:rPr>
              <a:t>Proses pencocokan AffinityEngine merespons dalam waktu yang tidak mengganggu kenyamanan pengguna (≤ 3 detik).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2834640"/>
            <a:ext cx="5303520" cy="493776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" y="2926080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05C1A"/>
                </a:solidFill>
                <a:latin typeface="Calibri"/>
              </a:rPr>
              <a:t>NFR-03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2926080"/>
            <a:ext cx="4187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Reliability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328416"/>
            <a:ext cx="5303520" cy="12984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" y="3456432"/>
            <a:ext cx="504748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2E"/>
                </a:solidFill>
                <a:latin typeface="Calibri"/>
              </a:rPr>
              <a:t>Hasil pencocokan konsisten dan stabil; skor AffinityScore yang sama selalu menghasilkan urutan feed yang sama.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2834640"/>
            <a:ext cx="5303520" cy="493776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2926080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05C1A"/>
                </a:solidFill>
                <a:latin typeface="Calibri"/>
              </a:rPr>
              <a:t>NFR-04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2926080"/>
            <a:ext cx="4187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3328416"/>
            <a:ext cx="5303520" cy="12984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91656" y="3456432"/>
            <a:ext cx="504748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2E"/>
                </a:solidFill>
                <a:latin typeface="Calibri"/>
              </a:rPr>
              <a:t>Data profil kolaboratif hanya dapat diakses oleh pemilik akun; komunikasi menggunakan JWT dan protokol aman.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Studi Literatur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5C1A"/>
                </a:solidFill>
                <a:latin typeface="Calibri"/>
              </a:rPr>
              <a:t>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Perancangan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Penutup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14/41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01168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5720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ANALISIS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65760"/>
            <a:ext cx="1017727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41248"/>
            <a:ext cx="12188952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420624"/>
            <a:ext cx="9902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F5C"/>
                </a:solidFill>
                <a:latin typeface="Calibri"/>
              </a:rPr>
              <a:t>Knowledge-Based terpilih lewat Weighted Scoring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795528"/>
            <a:ext cx="9902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7080"/>
                </a:solidFill>
                <a:latin typeface="Calibri"/>
              </a:rPr>
              <a:t>Lima kriteria berbobot; nilai 1–5. Diwujudkan sebagai Affinity-Based Matching.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868680"/>
            <a:ext cx="3474720" cy="347472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914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E0EB"/>
                </a:solidFill>
                <a:latin typeface="Calibri"/>
              </a:rPr>
              <a:t>Alternatif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1216152"/>
            <a:ext cx="3474720" cy="749808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1271016"/>
            <a:ext cx="325526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Collaborative
Filtering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1965960"/>
            <a:ext cx="3474720" cy="11887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2057400"/>
            <a:ext cx="32552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Berbasis pola perilaku pengguna serupa — rentan cold start.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154680"/>
            <a:ext cx="3474720" cy="603504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3200400"/>
            <a:ext cx="1005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324612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Peringkat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79" y="868680"/>
            <a:ext cx="3474720" cy="347472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19" y="914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E0EB"/>
                </a:solidFill>
                <a:latin typeface="Calibri"/>
              </a:rPr>
              <a:t>Alternatif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79" y="1216152"/>
            <a:ext cx="3474720" cy="749808"/>
          </a:xfrm>
          <a:prstGeom prst="rect">
            <a:avLst/>
          </a:prstGeom>
          <a:solidFill>
            <a:srgbClr val="CC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07407" y="1271016"/>
            <a:ext cx="325526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Content-Based
Filtering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79" y="1965960"/>
            <a:ext cx="3474720" cy="11887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07407" y="2057400"/>
            <a:ext cx="32552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Kesamaan vektor atribut — kurang optimal untuk konteks person-to-project.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79" y="3154680"/>
            <a:ext cx="3474720" cy="603504"/>
          </a:xfrm>
          <a:prstGeom prst="rect">
            <a:avLst/>
          </a:prstGeom>
          <a:solidFill>
            <a:srgbClr val="CC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07407" y="3200400"/>
            <a:ext cx="1005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49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399" y="324612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Peringkat 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18" y="868680"/>
            <a:ext cx="3474720" cy="347472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58" y="914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E0EB"/>
                </a:solidFill>
                <a:latin typeface="Calibri"/>
              </a:rPr>
              <a:t>Alternatif 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75318" y="1216152"/>
            <a:ext cx="3474720" cy="749808"/>
          </a:xfrm>
          <a:prstGeom prst="rect">
            <a:avLst/>
          </a:prstGeom>
          <a:solidFill>
            <a:srgbClr val="1E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85046" y="1271016"/>
            <a:ext cx="325526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Knowledge-Based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18" y="1965960"/>
            <a:ext cx="3474720" cy="11887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85046" y="2057400"/>
            <a:ext cx="32552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Skor dari atribut profil eksplisit — tahan cold start, fleksibel, transparan.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75318" y="3154680"/>
            <a:ext cx="3474720" cy="603504"/>
          </a:xfrm>
          <a:prstGeom prst="rect">
            <a:avLst/>
          </a:prstGeom>
          <a:solidFill>
            <a:srgbClr val="1E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85046" y="3200400"/>
            <a:ext cx="1005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91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64038" y="324612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Peringkat 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75318" y="3831336"/>
            <a:ext cx="3474720" cy="420624"/>
          </a:xfrm>
          <a:prstGeom prst="rect">
            <a:avLst/>
          </a:prstGeom>
          <a:solidFill>
            <a:srgbClr val="1E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75318" y="38679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TERPILIH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Studi Literatur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5C1A"/>
                </a:solidFill>
                <a:latin typeface="Calibri"/>
              </a:rPr>
              <a:t>Perancangan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Penutup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15/41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01168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5720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PERANCANGAN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65760"/>
            <a:ext cx="1017727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41248"/>
            <a:ext cx="12188952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420624"/>
            <a:ext cx="9902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F5C"/>
                </a:solidFill>
                <a:latin typeface="Calibri"/>
              </a:rPr>
              <a:t>Satu platform, tiga modul pencocokan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795528"/>
            <a:ext cx="9902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7080"/>
                </a:solidFill>
                <a:latin typeface="Calibri"/>
              </a:rPr>
              <a:t>Tugas akhir ini berfokus pada modul People-to-Project.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868680"/>
            <a:ext cx="5486400" cy="2560320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103327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People-to-Project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52704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CCFF"/>
                </a:solidFill>
                <a:latin typeface="Calibri"/>
              </a:rPr>
              <a:t>Pencocokan individu dengan proyek atau peluang kolaborasi berdasarkan profil kolaboratif. Fokus tugas akhir ini.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286000"/>
            <a:ext cx="5486400" cy="36576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624" y="2377440"/>
            <a:ext cx="292608" cy="27432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" y="2395728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2377440"/>
            <a:ext cx="4828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FF"/>
                </a:solidFill>
                <a:latin typeface="Calibri"/>
              </a:rPr>
              <a:t>Mahasiswa  —  Pengguna utama — mengisi profil, memperoleh rekomendasi kegiatan, mendaftar.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" y="2697480"/>
            <a:ext cx="292608" cy="27432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2715768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2697480"/>
            <a:ext cx="4828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FF"/>
                </a:solidFill>
                <a:latin typeface="Calibri"/>
              </a:rPr>
              <a:t>Pembuat Kegiatan  —  Mahasiswa yang membuat kegiatan, menerima/menolak pendaftar.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" y="3017520"/>
            <a:ext cx="292608" cy="27432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" y="3035808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3017520"/>
            <a:ext cx="4828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FF"/>
                </a:solidFill>
                <a:latin typeface="Calibri"/>
              </a:rPr>
              <a:t>Pengelola Platform  —  Menjaga validitas master data atribut dan memoderasi konten kegiatan.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868680"/>
            <a:ext cx="5788152" cy="1170432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99669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7080"/>
                </a:solidFill>
                <a:latin typeface="Calibri"/>
              </a:rPr>
              <a:t>People-to-People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136245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7080"/>
                </a:solidFill>
                <a:latin typeface="Calibri"/>
              </a:rPr>
              <a:t>Pencocokan antarindividu berdasarkan profil kolaboratif.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2167128"/>
            <a:ext cx="5788152" cy="1170432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229514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7080"/>
                </a:solidFill>
                <a:latin typeface="Calibri"/>
              </a:rPr>
              <a:t>Team Formation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2660904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7080"/>
                </a:solidFill>
                <a:latin typeface="Calibri"/>
              </a:rPr>
              <a:t>Pembentukan komposisi tim berdasarkan peran &amp; kecocokan anggota.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Studi Literatur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5C1A"/>
                </a:solidFill>
                <a:latin typeface="Calibri"/>
              </a:rPr>
              <a:t>Perancangan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Penutup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16/41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01168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5720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PERANCANGAN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65760"/>
            <a:ext cx="1017727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41248"/>
            <a:ext cx="12188952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420624"/>
            <a:ext cx="9902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F5C"/>
                </a:solidFill>
                <a:latin typeface="Calibri"/>
              </a:rPr>
              <a:t>Flowchart &amp; dekomposisi sistem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8686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F5C"/>
                </a:solidFill>
                <a:latin typeface="Calibri"/>
              </a:rPr>
              <a:t>Flowchart Modul People-to-Project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1179576"/>
            <a:ext cx="5577840" cy="4114800"/>
          </a:xfrm>
          <a:prstGeom prst="rect">
            <a:avLst/>
          </a:prstGeom>
          <a:solidFill>
            <a:srgbClr val="F4F6FA"/>
          </a:solidFill>
          <a:ln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00837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07080"/>
                </a:solidFill>
                <a:latin typeface="Calibri"/>
              </a:rPr>
              <a:t>Letakkan gambar Flowchart (Gambar IV.3)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8686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F5C"/>
                </a:solidFill>
                <a:latin typeface="Calibri"/>
              </a:rPr>
              <a:t>Dekomposisi Fungsi Sistem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179576"/>
            <a:ext cx="5577840" cy="4114800"/>
          </a:xfrm>
          <a:prstGeom prst="rect">
            <a:avLst/>
          </a:prstGeom>
          <a:solidFill>
            <a:srgbClr val="F4F6FA"/>
          </a:solidFill>
          <a:ln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00837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07080"/>
                </a:solidFill>
                <a:latin typeface="Calibri"/>
              </a:rPr>
              <a:t>Letakkan gambar Dekomposisi (Gambar IV.2)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Studi Literatur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5C1A"/>
                </a:solidFill>
                <a:latin typeface="Calibri"/>
              </a:rPr>
              <a:t>Perancangan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Penutup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17/41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01168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5720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PERANCANGAN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65760"/>
            <a:ext cx="1017727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41248"/>
            <a:ext cx="12188952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420624"/>
            <a:ext cx="9902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F5C"/>
                </a:solidFill>
                <a:latin typeface="Calibri"/>
              </a:rPr>
              <a:t>Model sistem: 11 use case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941832"/>
            <a:ext cx="54864" cy="27432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86868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UC01  Register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371600"/>
            <a:ext cx="54864" cy="27432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129844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UC02  Login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1801368"/>
            <a:ext cx="54864" cy="27432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172821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UC03  Logout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231136"/>
            <a:ext cx="54864" cy="27432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215798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UC04  Mengelola profil kolaboratif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660904"/>
            <a:ext cx="54864" cy="27432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258775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UC05  Melakukan pencocokan rekomendasi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090672"/>
            <a:ext cx="54864" cy="27432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301752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UC06  Melihat feed rekomendasi kegiatan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520440"/>
            <a:ext cx="54864" cy="27432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344728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UC07  Melihat detail kegiatan &amp; breakdown skor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950208"/>
            <a:ext cx="54864" cy="27432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387705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UC08  Mendaftar ke kegiatan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379976"/>
            <a:ext cx="54864" cy="27432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" y="430682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UC09  Membuat kegiatan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809744"/>
            <a:ext cx="54864" cy="27432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473659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UC10  Mengelola kegiatan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239512"/>
            <a:ext cx="54864" cy="27432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516636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UC11  Mengelola pendaftar kegiatan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60" y="868680"/>
            <a:ext cx="5788152" cy="4937760"/>
          </a:xfrm>
          <a:prstGeom prst="rect">
            <a:avLst/>
          </a:prstGeom>
          <a:solidFill>
            <a:srgbClr val="F4F6FA"/>
          </a:solidFill>
          <a:ln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3108960"/>
            <a:ext cx="5788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07080"/>
                </a:solidFill>
                <a:latin typeface="Calibri"/>
              </a:rPr>
              <a:t>Letakkan gambar Use Case Diagram (Gambar IV.4)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Studi Literatur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5C1A"/>
                </a:solidFill>
                <a:latin typeface="Calibri"/>
              </a:rPr>
              <a:t>Perancangan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Penutup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18/41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01168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5720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PERANCANGAN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65760"/>
            <a:ext cx="1017727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41248"/>
            <a:ext cx="12188952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420624"/>
            <a:ext cx="9902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F5C"/>
                </a:solidFill>
                <a:latin typeface="Calibri"/>
              </a:rPr>
              <a:t>Model &amp; arsitektur sistem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868680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07080"/>
                </a:solidFill>
                <a:latin typeface="Calibri"/>
              </a:rPr>
              <a:t>Arsitektur thin-client: logika Affinity-Based Matching dijalankan di sisi server melalui komponen AffinityEngine.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119786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F5C"/>
                </a:solidFill>
                <a:latin typeface="Calibri"/>
              </a:rPr>
              <a:t>Activity Diagram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472184"/>
            <a:ext cx="5577840" cy="1554480"/>
          </a:xfrm>
          <a:prstGeom prst="rect">
            <a:avLst/>
          </a:prstGeom>
          <a:solidFill>
            <a:srgbClr val="F4F6FA"/>
          </a:solidFill>
          <a:ln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02082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07080"/>
                </a:solidFill>
                <a:latin typeface="Calibri"/>
              </a:rPr>
              <a:t>Letakkan gambar Activity Diagram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19786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F5C"/>
                </a:solidFill>
                <a:latin typeface="Calibri"/>
              </a:rPr>
              <a:t>Sequence Diagram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472184"/>
            <a:ext cx="5577840" cy="1554480"/>
          </a:xfrm>
          <a:prstGeom prst="rect">
            <a:avLst/>
          </a:prstGeom>
          <a:solidFill>
            <a:srgbClr val="F4F6FA"/>
          </a:solidFill>
          <a:ln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02082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07080"/>
                </a:solidFill>
                <a:latin typeface="Calibri"/>
              </a:rPr>
              <a:t>Letakkan gambar Sequence Diagram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319125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F5C"/>
                </a:solidFill>
                <a:latin typeface="Calibri"/>
              </a:rPr>
              <a:t>Class Diagram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465576"/>
            <a:ext cx="5577840" cy="1554480"/>
          </a:xfrm>
          <a:prstGeom prst="rect">
            <a:avLst/>
          </a:prstGeom>
          <a:solidFill>
            <a:srgbClr val="F4F6FA"/>
          </a:solidFill>
          <a:ln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01421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07080"/>
                </a:solidFill>
                <a:latin typeface="Calibri"/>
              </a:rPr>
              <a:t>Letakkan gambar Class Diagram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19125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F5C"/>
                </a:solidFill>
                <a:latin typeface="Calibri"/>
              </a:rPr>
              <a:t>Component &amp; Deployment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465576"/>
            <a:ext cx="5577840" cy="1554480"/>
          </a:xfrm>
          <a:prstGeom prst="rect">
            <a:avLst/>
          </a:prstGeom>
          <a:solidFill>
            <a:srgbClr val="F4F6FA"/>
          </a:solidFill>
          <a:ln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401421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07080"/>
                </a:solidFill>
                <a:latin typeface="Calibri"/>
              </a:rPr>
              <a:t>Letakkan gambar Component &amp; Deployment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Studi Literatur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5C1A"/>
                </a:solidFill>
                <a:latin typeface="Calibri"/>
              </a:rPr>
              <a:t>Perancangan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Penutup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19/41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01168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5720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PERANCANGAN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65760"/>
            <a:ext cx="1017727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41248"/>
            <a:ext cx="12188952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420624"/>
            <a:ext cx="9902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F5C"/>
                </a:solidFill>
                <a:latin typeface="Calibri"/>
              </a:rPr>
              <a:t>AffinityEngine: dua sub-algoritma paralel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795528"/>
            <a:ext cx="9902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7080"/>
                </a:solidFill>
                <a:latin typeface="Calibri"/>
              </a:rPr>
              <a:t>Menggabungkan person-job fit dua arah menjadi satu skor kecocokan total.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868680"/>
            <a:ext cx="566928" cy="566928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905256"/>
            <a:ext cx="56692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05C1A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905256"/>
            <a:ext cx="186537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F5C"/>
                </a:solidFill>
                <a:latin typeface="Calibri"/>
              </a:rPr>
              <a:t>Ekstraksi Profil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1527048"/>
            <a:ext cx="257860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Ambil atribut dari profil mahasiswa dan persyaratan kegiatan.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0088" y="1033272"/>
            <a:ext cx="2011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8E0EB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7832" y="868680"/>
            <a:ext cx="566928" cy="566928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27832" y="905256"/>
            <a:ext cx="56692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05C1A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905256"/>
            <a:ext cx="186537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F5C"/>
                </a:solidFill>
                <a:latin typeface="Calibri"/>
              </a:rPr>
              <a:t>Algoritma 1
(DA Fit)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27832" y="1527048"/>
            <a:ext cx="257860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Hitung Demands-Abilities Fit — skill &amp; pengalaman.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1033272"/>
            <a:ext cx="2011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8E0EB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35624" y="868680"/>
            <a:ext cx="566928" cy="566928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35624" y="905256"/>
            <a:ext cx="56692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05C1A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3992" y="905256"/>
            <a:ext cx="186537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F5C"/>
                </a:solidFill>
                <a:latin typeface="Calibri"/>
              </a:rPr>
              <a:t>Algoritma 2
(NS Fit)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35624" y="1527048"/>
            <a:ext cx="257860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Hitung Needs-Supplies Fit — minat, gaya kerja &amp; peran.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05672" y="1033272"/>
            <a:ext cx="2011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8E0EB"/>
                </a:solidFill>
                <a:latin typeface="Calibri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43416" y="868680"/>
            <a:ext cx="566928" cy="566928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43416" y="905256"/>
            <a:ext cx="56692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05C1A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01784" y="905256"/>
            <a:ext cx="186537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F5C"/>
                </a:solidFill>
                <a:latin typeface="Calibri"/>
              </a:rPr>
              <a:t>Komposisi &amp;
Feed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43416" y="1527048"/>
            <a:ext cx="257860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0,5×DA + 0,5×NS → AffinityScore → badge + urutan feed.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2350008"/>
            <a:ext cx="11548872" cy="274320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" y="237744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Lima atribut + 1 hard constraint: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2697480"/>
            <a:ext cx="1828800" cy="43891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4904" y="2734056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Skill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4" y="2935223"/>
            <a:ext cx="1719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EEFF"/>
                </a:solidFill>
                <a:latin typeface="Calibri"/>
              </a:rPr>
              <a:t>DA Fit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95144" y="2697480"/>
            <a:ext cx="1828800" cy="43891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50008" y="2734056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Pengalaman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50008" y="2935223"/>
            <a:ext cx="1719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EEFF"/>
                </a:solidFill>
                <a:latin typeface="Calibri"/>
              </a:rPr>
              <a:t>DA Fit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70248" y="2697480"/>
            <a:ext cx="1828800" cy="438912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25112" y="2734056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Minat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25112" y="2935223"/>
            <a:ext cx="1719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EEFF"/>
                </a:solidFill>
                <a:latin typeface="Calibri"/>
              </a:rPr>
              <a:t>NS Fit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45352" y="2697480"/>
            <a:ext cx="1828800" cy="438912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0216" y="2734056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Gaya Kerja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0216" y="2935223"/>
            <a:ext cx="1719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EEFF"/>
                </a:solidFill>
                <a:latin typeface="Calibri"/>
              </a:rPr>
              <a:t>NS Fit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0456" y="2697480"/>
            <a:ext cx="1828800" cy="438912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75320" y="2734056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Preferensi Peran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5320" y="2935223"/>
            <a:ext cx="1719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EEFF"/>
                </a:solidFill>
                <a:latin typeface="Calibri"/>
              </a:rPr>
              <a:t>NS Fit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195560" y="2697480"/>
            <a:ext cx="1828800" cy="438912"/>
          </a:xfrm>
          <a:prstGeom prst="rect">
            <a:avLst/>
          </a:prstGeom>
          <a:solidFill>
            <a:srgbClr val="0E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50424" y="2734056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Ketersediaan Waktu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50424" y="2935223"/>
            <a:ext cx="1719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EEFF"/>
                </a:solidFill>
                <a:latin typeface="Calibri"/>
              </a:rPr>
              <a:t>Hard Constraint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Studi Literatur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5C1A"/>
                </a:solidFill>
                <a:latin typeface="Calibri"/>
              </a:rPr>
              <a:t>Perancangan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Penutup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20/41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01168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5720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PERANCANGAN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65760"/>
            <a:ext cx="1017727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41248"/>
            <a:ext cx="12188952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420624"/>
            <a:ext cx="9902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F5C"/>
                </a:solidFill>
                <a:latin typeface="Calibri"/>
              </a:rPr>
              <a:t>Atribut &amp; pembobotan pada AffinityEngine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795528"/>
            <a:ext cx="9902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7080"/>
                </a:solidFill>
                <a:latin typeface="Calibri"/>
              </a:rPr>
              <a:t>Bobot diturunkan dari peringkat kepentingan survei menggunakan Rank Order Centroid (ROC); total bobot tiap sub-algoritma = 1.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868680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E05C1A"/>
                </a:solidFill>
                <a:latin typeface="Calibri"/>
              </a:rPr>
              <a:t>Formula ROC:  wᵢ = (1/n) × Σ_{k=i}^{n} (1/k)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216152"/>
            <a:ext cx="2560320" cy="365760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" y="1252728"/>
            <a:ext cx="2450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ATRIBUT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360" y="1216152"/>
            <a:ext cx="2286000" cy="365760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35224" y="125272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SUB-ALGORITMA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66360" y="1216152"/>
            <a:ext cx="2286000" cy="365760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21224" y="125272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PERINGKAT SURVEI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60" y="1216152"/>
            <a:ext cx="1828800" cy="365760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1252728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BOBOT ROC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81160" y="1216152"/>
            <a:ext cx="2743200" cy="365760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36024" y="1252728"/>
            <a:ext cx="2633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DASAR TEORI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1581912"/>
            <a:ext cx="256032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4" y="1618488"/>
            <a:ext cx="2450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Skill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0360" y="1581912"/>
            <a:ext cx="228600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35224" y="161848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B2F5C"/>
                </a:solidFill>
                <a:latin typeface="Calibri"/>
              </a:rPr>
              <a:t>Algoritma 1 — DA Fit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66360" y="1581912"/>
            <a:ext cx="228600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21224" y="161848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1C2E"/>
                </a:solidFill>
                <a:latin typeface="Calibri"/>
              </a:rPr>
              <a:t>Peringkat 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60" y="1581912"/>
            <a:ext cx="182880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07224" y="1618488"/>
            <a:ext cx="1719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1C2E"/>
                </a:solidFill>
                <a:latin typeface="Calibri"/>
              </a:rPr>
              <a:t>0,750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81160" y="1581912"/>
            <a:ext cx="274320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36024" y="1618488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1C2E"/>
                </a:solidFill>
                <a:latin typeface="Calibri"/>
              </a:rPr>
              <a:t>Kristof-Brown 2005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2039112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4904" y="2075688"/>
            <a:ext cx="2450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Pengalaman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80360" y="2039112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35224" y="207568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B2F5C"/>
                </a:solidFill>
                <a:latin typeface="Calibri"/>
              </a:rPr>
              <a:t>Algoritma 1 — DA Fit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66360" y="2039112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21224" y="207568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1C2E"/>
                </a:solidFill>
                <a:latin typeface="Calibri"/>
              </a:rPr>
              <a:t>Peringkat 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52360" y="2039112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07224" y="2075688"/>
            <a:ext cx="1719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1C2E"/>
                </a:solidFill>
                <a:latin typeface="Calibri"/>
              </a:rPr>
              <a:t>0,250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81160" y="2039112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36024" y="2075688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1C2E"/>
                </a:solidFill>
                <a:latin typeface="Calibri"/>
              </a:rPr>
              <a:t>Kristof-Brown 2005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2496312"/>
            <a:ext cx="256032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4904" y="2532888"/>
            <a:ext cx="2450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Minat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80360" y="2496312"/>
            <a:ext cx="228600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35224" y="253288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05C1A"/>
                </a:solidFill>
                <a:latin typeface="Calibri"/>
              </a:rPr>
              <a:t>Algoritma 2 — NS Fit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66360" y="2496312"/>
            <a:ext cx="228600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21224" y="253288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1C2E"/>
                </a:solidFill>
                <a:latin typeface="Calibri"/>
              </a:rPr>
              <a:t>Peringkat 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52360" y="2496312"/>
            <a:ext cx="182880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07224" y="2532888"/>
            <a:ext cx="1719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1C2E"/>
                </a:solidFill>
                <a:latin typeface="Calibri"/>
              </a:rPr>
              <a:t>0,611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81160" y="2496312"/>
            <a:ext cx="274320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36024" y="2532888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1C2E"/>
                </a:solidFill>
                <a:latin typeface="Calibri"/>
              </a:rPr>
              <a:t>Kristof-Brown 2005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2953512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74904" y="2990088"/>
            <a:ext cx="2450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Gaya Kerja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80360" y="2953512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35224" y="299008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05C1A"/>
                </a:solidFill>
                <a:latin typeface="Calibri"/>
              </a:rPr>
              <a:t>Algoritma 2 — NS Fit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66360" y="2953512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221224" y="299008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1C2E"/>
                </a:solidFill>
                <a:latin typeface="Calibri"/>
              </a:rPr>
              <a:t>Peringkat 2–3 (seri)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452360" y="2953512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07224" y="2990088"/>
            <a:ext cx="1719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1C2E"/>
                </a:solidFill>
                <a:latin typeface="Calibri"/>
              </a:rPr>
              <a:t>0,194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281160" y="2953512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36024" y="2990088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1C2E"/>
                </a:solidFill>
                <a:latin typeface="Calibri"/>
              </a:rPr>
              <a:t>Stum 2009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" y="3410712"/>
            <a:ext cx="256032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74904" y="3447288"/>
            <a:ext cx="2450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Preferensi Peran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880360" y="3410712"/>
            <a:ext cx="228600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935224" y="344728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05C1A"/>
                </a:solidFill>
                <a:latin typeface="Calibri"/>
              </a:rPr>
              <a:t>Algoritma 2 — NS Fit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166360" y="3410712"/>
            <a:ext cx="228600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221224" y="344728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1C2E"/>
                </a:solidFill>
                <a:latin typeface="Calibri"/>
              </a:rPr>
              <a:t>Peringkat 2–3 (seri)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52360" y="3410712"/>
            <a:ext cx="182880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507224" y="3447288"/>
            <a:ext cx="1719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1C2E"/>
                </a:solidFill>
                <a:latin typeface="Calibri"/>
              </a:rPr>
              <a:t>0,194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281160" y="3410712"/>
            <a:ext cx="274320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336024" y="3447288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1C2E"/>
                </a:solidFill>
                <a:latin typeface="Calibri"/>
              </a:rPr>
              <a:t>Burke 2019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20040" y="3931920"/>
            <a:ext cx="11548872" cy="36576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20040" y="4032504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7080"/>
                </a:solidFill>
                <a:latin typeface="Calibri"/>
              </a:rPr>
              <a:t>Ketersediaan Waktu  —  Hard Constraint (bukan komponen skor, tetapi prasyarat tampil di feed)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Studi Literatur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5C1A"/>
                </a:solidFill>
                <a:latin typeface="Calibri"/>
              </a:rPr>
              <a:t>Perancangan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Penutup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21/41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01168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5720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PERANCANGAN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65760"/>
            <a:ext cx="1017727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41248"/>
            <a:ext cx="12188952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420624"/>
            <a:ext cx="9902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F5C"/>
                </a:solidFill>
                <a:latin typeface="Calibri"/>
              </a:rPr>
              <a:t>Dua sub-algoritma, pendekatan berbeda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795528"/>
            <a:ext cx="9902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7080"/>
                </a:solidFill>
                <a:latin typeface="Calibri"/>
              </a:rPr>
              <a:t>Algoritma 1 mengukur kemampuan vs. tuntutan; Algoritma 2 mengukur kesesuaian kebutuhan psikologis.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868680"/>
            <a:ext cx="5440680" cy="42062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" y="941832"/>
            <a:ext cx="5230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Algoritma 1 — Demands-Abilities Fit  (w = 0,5 terhadap AffinityScore)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" y="1362456"/>
            <a:ext cx="5230368" cy="113385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0624" y="1362456"/>
            <a:ext cx="54864" cy="1133856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143560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F5C"/>
                </a:solidFill>
                <a:latin typeface="Calibri"/>
              </a:rPr>
              <a:t>Skill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16916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E"/>
                </a:solidFill>
                <a:latin typeface="Calibri"/>
              </a:rPr>
              <a:t>Jaccard tag skill kegiatan vs profil mahasiswa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1947672"/>
            <a:ext cx="4773168" cy="384048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1984248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2F5C"/>
                </a:solidFill>
                <a:latin typeface="Calibri"/>
              </a:rPr>
              <a:t>SkillScore = |Tag_mhs ∩ Tag_kegiatan| / |Tag_kegiatan|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" y="2569464"/>
            <a:ext cx="5230368" cy="113385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" y="2569464"/>
            <a:ext cx="54864" cy="1133856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264261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F5C"/>
                </a:solidFill>
                <a:latin typeface="Calibri"/>
              </a:rPr>
              <a:t>Pengalaman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289864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E"/>
                </a:solidFill>
                <a:latin typeface="Calibri"/>
              </a:rPr>
              <a:t>Perbandingan tingkat pengalaman ordinal (Pemula/Menengah/Mahir/Ahli)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154680"/>
            <a:ext cx="4773168" cy="384048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3191256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2F5C"/>
                </a:solidFill>
                <a:latin typeface="Calibri"/>
              </a:rPr>
              <a:t>ExpScore: cocok=1,0 · selisih 1=0,5 · selisih ≥2=0,0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867912"/>
            <a:ext cx="5440680" cy="42062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3941064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Score_DA = 0,75 × SkillScore + 0,25 × ExperienceScore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868680"/>
            <a:ext cx="5760720" cy="420624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81344" y="941832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Algoritma 2 — Needs-Supplies Fit  (w = 0,5 terhadap AffinityScore)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1344" y="1362456"/>
            <a:ext cx="5541264" cy="113385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81344" y="1362456"/>
            <a:ext cx="54864" cy="1133856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14356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05C1A"/>
                </a:solidFill>
                <a:latin typeface="Calibri"/>
              </a:rPr>
              <a:t>Minat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7648" y="16916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E"/>
                </a:solidFill>
                <a:latin typeface="Calibri"/>
              </a:rPr>
              <a:t>Jaccard similarity tag minat mahasiswa vs kegiatan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27648" y="1947672"/>
            <a:ext cx="5138928" cy="384048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19088" y="1984248"/>
            <a:ext cx="4956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05C1A"/>
                </a:solidFill>
                <a:latin typeface="Calibri"/>
              </a:rPr>
              <a:t>MinatScore = |minat_mhs ∩ minat_keg| / |minat_mhs ∪ minat_keg|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81344" y="2569464"/>
            <a:ext cx="5541264" cy="113385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81344" y="2569464"/>
            <a:ext cx="54864" cy="1133856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27648" y="264261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05C1A"/>
                </a:solidFill>
                <a:latin typeface="Calibri"/>
              </a:rPr>
              <a:t>Gaya Kerja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7648" y="28986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E"/>
                </a:solidFill>
                <a:latin typeface="Calibri"/>
              </a:rPr>
              <a:t>Kecocokan profil Adaptor (Terstruktur) / Innovator (Fleksibel)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27648" y="3154680"/>
            <a:ext cx="5138928" cy="384048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19088" y="3191256"/>
            <a:ext cx="4956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05C1A"/>
                </a:solidFill>
                <a:latin typeface="Calibri"/>
              </a:rPr>
              <a:t>GayaScore: sama=1,0 · berbeda=0,0  (Kirton via Stum 2009)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81344" y="3776472"/>
            <a:ext cx="5541264" cy="113385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81344" y="3776472"/>
            <a:ext cx="54864" cy="1133856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27648" y="384962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05C1A"/>
                </a:solidFill>
                <a:latin typeface="Calibri"/>
              </a:rPr>
              <a:t>Preferensi Peran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7648" y="410565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E"/>
                </a:solidFill>
                <a:latin typeface="Calibri"/>
              </a:rPr>
              <a:t>Taksonomi Benne &amp; Sheats: Leader, Contributor, Supporter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27648" y="4361688"/>
            <a:ext cx="5138928" cy="384048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19088" y="4398264"/>
            <a:ext cx="4956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05C1A"/>
                </a:solidFill>
                <a:latin typeface="Calibri"/>
              </a:rPr>
              <a:t>PeranScore: beda=1,0 · sama=0,5  (Burke 2019)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5074920"/>
            <a:ext cx="5760720" cy="420624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81344" y="5148072"/>
            <a:ext cx="5541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Score_NS = 0,611×Sminat + 0,194×Sgaya + 0,194×Speran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Studi Literatur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5C1A"/>
                </a:solidFill>
                <a:latin typeface="Calibri"/>
              </a:rPr>
              <a:t>Perancangan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Penutup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22/41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01168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5720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PERANCANGAN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65760"/>
            <a:ext cx="1017727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41248"/>
            <a:ext cx="12188952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420624"/>
            <a:ext cx="9902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F5C"/>
                </a:solidFill>
                <a:latin typeface="Calibri"/>
              </a:rPr>
              <a:t>Skor total &amp; badge kecocokan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960120"/>
            <a:ext cx="11548872" cy="62179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" y="996696"/>
            <a:ext cx="11347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AFFINITYSCORE (Mahasiswa, Kegiatan)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" y="1216152"/>
            <a:ext cx="11347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= 0,5 × Score_DA  +  0,5 × Score_NS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1691640"/>
            <a:ext cx="11548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7080"/>
                </a:solidFill>
                <a:latin typeface="Calibri"/>
              </a:rPr>
              <a:t>Seluruh skor atribut ∈ [0, 1] dan Σ bobot = 1 → skor total ∈ [0%, 100%]. Dapat diuraikan per atribut (explainable). Ketersediaan waktu sebagai hard constraint: jika tidak memenuhi → kegiatan tidak muncul di feed (bukan pengurang skor).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331720"/>
            <a:ext cx="3547872" cy="493776"/>
          </a:xfrm>
          <a:prstGeom prst="rect">
            <a:avLst/>
          </a:prstGeom>
          <a:solidFill>
            <a:srgbClr val="1E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" y="238658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≥ 85%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84248" y="2404872"/>
            <a:ext cx="1755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Hijau — Sangat Cocok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825496"/>
            <a:ext cx="3547872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2898648"/>
            <a:ext cx="332841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Profil mahasiswa sangat sesuai dengan tuntutan dan karakteristik kegiatan.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88536" y="2331720"/>
            <a:ext cx="3547872" cy="493776"/>
          </a:xfrm>
          <a:prstGeom prst="rect">
            <a:avLst/>
          </a:prstGeom>
          <a:solidFill>
            <a:srgbClr val="CC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16552" y="238658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60% – 84%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52744" y="2404872"/>
            <a:ext cx="1755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Kuning — Cocok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88536" y="2825496"/>
            <a:ext cx="3547872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98264" y="2898648"/>
            <a:ext cx="332841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Sebagian besar atribut profil sesuai; ada celah minor yang masih dapat dikelola.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57032" y="2331720"/>
            <a:ext cx="3547872" cy="493776"/>
          </a:xfrm>
          <a:prstGeom prst="rect">
            <a:avLst/>
          </a:prstGeom>
          <a:solidFill>
            <a:srgbClr val="60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85048" y="238658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30% – 59%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2404872"/>
            <a:ext cx="1755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Abu-abu — Cukup Cocok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57032" y="2825496"/>
            <a:ext cx="3547872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2898648"/>
            <a:ext cx="332841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Memenuhi threshold minimum; ada ketidakcocokan yang perlu dipertimbangkan.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3849624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2F5C"/>
                </a:solidFill>
                <a:latin typeface="Calibri"/>
              </a:rPr>
              <a:t>Threshold minimum 30% — kegiatan dengan AffinityScore &lt; 30% tidak ditampilkan di feed.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Studi Literatur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Perancangan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Penutup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23/41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10312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57200"/>
            <a:ext cx="1938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IMPLEMENTASI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365760"/>
            <a:ext cx="1008583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41248"/>
            <a:ext cx="12188952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04288" y="420624"/>
            <a:ext cx="9811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F5C"/>
                </a:solidFill>
                <a:latin typeface="Calibri"/>
              </a:rPr>
              <a:t>Prototipe mobile modul People-to-Project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4288" y="795528"/>
            <a:ext cx="9811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7080"/>
                </a:solidFill>
                <a:latin typeface="Calibri"/>
              </a:rPr>
              <a:t>Arsitektur thin-client — komputasi pencocokan di sisi server (AffinityEngine).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868680"/>
            <a:ext cx="3547872" cy="475488"/>
          </a:xfrm>
          <a:prstGeom prst="rect">
            <a:avLst/>
          </a:prstGeom>
          <a:solidFill>
            <a:srgbClr val="0D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" y="96012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Flutter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1344168"/>
            <a:ext cx="3547872" cy="6583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" y="1417320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Client mobile Android (.apk), bahasa Dart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79" y="868680"/>
            <a:ext cx="3547872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5695" y="96012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Express.js + Prisma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79" y="1344168"/>
            <a:ext cx="3547872" cy="6583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25695" y="1417320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REST API (TypeScript) dengan Prisma sebagai ORM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18" y="868680"/>
            <a:ext cx="3547872" cy="475488"/>
          </a:xfrm>
          <a:prstGeom prst="rect">
            <a:avLst/>
          </a:prstGeom>
          <a:solidFill>
            <a:srgbClr val="0E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03334" y="96012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18" y="1344168"/>
            <a:ext cx="3547872" cy="6583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03334" y="1417320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Basis data &amp; hosting server; komunikasi HTTPS/JSON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130552"/>
            <a:ext cx="3547872" cy="2377440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221992"/>
            <a:ext cx="3547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2697480"/>
            <a:ext cx="3547872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0F0"/>
                </a:solidFill>
                <a:latin typeface="Calibri"/>
              </a:rPr>
              <a:t>use case
terimplementasi
&amp; terverifikasi
(UC01-UC11)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79" y="2130552"/>
            <a:ext cx="3547872" cy="237744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79" y="2221992"/>
            <a:ext cx="3547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79" y="2697480"/>
            <a:ext cx="3547872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0F0"/>
                </a:solidFill>
                <a:latin typeface="Calibri"/>
              </a:rPr>
              <a:t>antarmuka
halaman modul
People-to-Project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18" y="2130552"/>
            <a:ext cx="3547872" cy="2377440"/>
          </a:xfrm>
          <a:prstGeom prst="rect">
            <a:avLst/>
          </a:prstGeom>
          <a:solidFill>
            <a:srgbClr val="0D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18" y="2221992"/>
            <a:ext cx="3547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18" y="2697480"/>
            <a:ext cx="3547872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0F0"/>
                </a:solidFill>
                <a:latin typeface="Calibri"/>
              </a:rPr>
              <a:t>sub-algoritma
AffinityEngine
berjalan paralel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Studi Literatur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Perancangan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Penutup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24/41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10312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57200"/>
            <a:ext cx="1938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IMPLEMENTASI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365760"/>
            <a:ext cx="1008583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41248"/>
            <a:ext cx="12188952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04288" y="420624"/>
            <a:ext cx="9811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F5C"/>
                </a:solidFill>
                <a:latin typeface="Calibri"/>
              </a:rPr>
              <a:t>Antarmuka modul People-to-Project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91440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B2F5C"/>
                </a:solidFill>
                <a:latin typeface="Calibri"/>
              </a:rPr>
              <a:t>Feed Rekomendasi
Kegiatan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1325880"/>
            <a:ext cx="2148840" cy="4389120"/>
          </a:xfrm>
          <a:prstGeom prst="rect">
            <a:avLst/>
          </a:prstGeom>
          <a:solidFill>
            <a:srgbClr val="F4F6FA"/>
          </a:solidFill>
          <a:ln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2918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07080"/>
                </a:solidFill>
                <a:latin typeface="Calibri"/>
              </a:rPr>
              <a:t>Feed Rekomendasi Kegiatan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91440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B2F5C"/>
                </a:solidFill>
                <a:latin typeface="Calibri"/>
              </a:rPr>
              <a:t>Detail Kegiatan
&amp; rincian skor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80" y="1325880"/>
            <a:ext cx="2148840" cy="4389120"/>
          </a:xfrm>
          <a:prstGeom prst="rect">
            <a:avLst/>
          </a:prstGeom>
          <a:solidFill>
            <a:srgbClr val="F4F6FA"/>
          </a:solidFill>
          <a:ln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80" y="32918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07080"/>
                </a:solidFill>
                <a:latin typeface="Calibri"/>
              </a:rPr>
              <a:t>Detail Kegiatan &amp; rincian skor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91440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B2F5C"/>
                </a:solidFill>
                <a:latin typeface="Calibri"/>
              </a:rPr>
              <a:t>Profil Kolaboratif
(Edit Profil)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4920" y="1325880"/>
            <a:ext cx="2148840" cy="4389120"/>
          </a:xfrm>
          <a:prstGeom prst="rect">
            <a:avLst/>
          </a:prstGeom>
          <a:solidFill>
            <a:srgbClr val="F4F6FA"/>
          </a:solidFill>
          <a:ln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32918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07080"/>
                </a:solidFill>
                <a:latin typeface="Calibri"/>
              </a:rPr>
              <a:t>Profil Kolaboratif (Edit Profil)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91440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B2F5C"/>
                </a:solidFill>
                <a:latin typeface="Calibri"/>
              </a:rPr>
              <a:t>Alur Pendaftaran
Kegiatan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52360" y="1325880"/>
            <a:ext cx="2148840" cy="4389120"/>
          </a:xfrm>
          <a:prstGeom prst="rect">
            <a:avLst/>
          </a:prstGeom>
          <a:solidFill>
            <a:srgbClr val="F4F6FA"/>
          </a:solidFill>
          <a:ln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52360" y="32918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07080"/>
                </a:solidFill>
                <a:latin typeface="Calibri"/>
              </a:rPr>
              <a:t>Alur Pendaftaran Kegiatan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91440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B2F5C"/>
                </a:solidFill>
                <a:latin typeface="Calibri"/>
              </a:rPr>
              <a:t>Buat &amp; Kelola
Kegiatan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29800" y="1325880"/>
            <a:ext cx="2148840" cy="4389120"/>
          </a:xfrm>
          <a:prstGeom prst="rect">
            <a:avLst/>
          </a:prstGeom>
          <a:solidFill>
            <a:srgbClr val="F4F6FA"/>
          </a:solidFill>
          <a:ln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9800" y="32918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07080"/>
                </a:solidFill>
                <a:latin typeface="Calibri"/>
              </a:rPr>
              <a:t>Buat &amp; Kelola Kegiatan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Studi Literatur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Perancangan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5C1A"/>
                </a:solidFill>
                <a:latin typeface="Calibri"/>
              </a:rP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Penutup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25/41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01168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5720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EVALUASI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65760"/>
            <a:ext cx="1017727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41248"/>
            <a:ext cx="12188952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420624"/>
            <a:ext cx="9902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F5C"/>
                </a:solidFill>
                <a:latin typeface="Calibri"/>
              </a:rPr>
              <a:t>Empat metode, dua sudut pandang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795528"/>
            <a:ext cx="9902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7080"/>
                </a:solidFill>
                <a:latin typeface="Calibri"/>
              </a:rPr>
              <a:t>Verifikasi kebenaran oleh pengembang; penerimaan oleh pengguna.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868680"/>
            <a:ext cx="5623560" cy="365760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" y="932688"/>
            <a:ext cx="5367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Evaluasi Internal - Pengembang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1325880"/>
            <a:ext cx="5440680" cy="2084831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1325880"/>
            <a:ext cx="5440680" cy="5486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" y="1453896"/>
            <a:ext cx="52212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F5C"/>
                </a:solidFill>
                <a:latin typeface="Calibri"/>
              </a:rPr>
              <a:t>Black-box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" y="2020824"/>
            <a:ext cx="52212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20 skenario normal &amp; alternatif atas 11 use case, dari sisi masukan ke keluaran.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538728"/>
            <a:ext cx="5440680" cy="2084831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3538728"/>
            <a:ext cx="5440680" cy="5486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" y="3666744"/>
            <a:ext cx="52212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F5C"/>
                </a:solidFill>
                <a:latin typeface="Calibri"/>
              </a:rPr>
              <a:t>Evaluasi Algoritma
Affinity Matching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" y="4233672"/>
            <a:ext cx="52212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14 skenario: kebenaran skor, batas nilai [0,1], konsistensi, pembaruan skor.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868680"/>
            <a:ext cx="5623560" cy="36576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91656" y="932688"/>
            <a:ext cx="5367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Evaluasi Eksternal - 10 Mahasiswa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1325880"/>
            <a:ext cx="5440680" cy="2084831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5080" y="1325880"/>
            <a:ext cx="5440680" cy="54864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1453896"/>
            <a:ext cx="52212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5C1A"/>
                </a:solidFill>
                <a:latin typeface="Calibri"/>
              </a:rPr>
              <a:t>System Usability
Scale (SUS)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2020824"/>
            <a:ext cx="52212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10 pernyataan (skala 1-5) menilai kemudahan penggunaan sistem secara umum.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3538728"/>
            <a:ext cx="5440680" cy="2084831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5080" y="3538728"/>
            <a:ext cx="5440680" cy="54864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64808" y="3666744"/>
            <a:ext cx="52212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5C1A"/>
                </a:solidFill>
                <a:latin typeface="Calibri"/>
              </a:rPr>
              <a:t>User Acceptance
Test (UAT)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64808" y="4233672"/>
            <a:ext cx="52212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8 aspek khusus fitur modul: feed, skor, breakdown, pendaftaran, buat kegiatan.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Studi Literatur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Perancangan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5C1A"/>
                </a:solidFill>
                <a:latin typeface="Calibri"/>
              </a:rP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Penutup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26/41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01168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5720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EVALUASI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65760"/>
            <a:ext cx="1017727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41248"/>
            <a:ext cx="12188952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420624"/>
            <a:ext cx="9902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F5C"/>
                </a:solidFill>
                <a:latin typeface="Calibri"/>
              </a:rPr>
              <a:t>Fungsi &amp; algoritma lolos; diterima pengguna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868680"/>
            <a:ext cx="2633472" cy="1920240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96012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18/20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1435608"/>
            <a:ext cx="2633472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0F0"/>
                </a:solidFill>
                <a:latin typeface="Calibri"/>
              </a:rPr>
              <a:t>skenario black-box
berhasil; 2 berhasil
dengan catatan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4680" y="868680"/>
            <a:ext cx="2633472" cy="1920240"/>
          </a:xfrm>
          <a:prstGeom prst="rect">
            <a:avLst/>
          </a:prstGeom>
          <a:solidFill>
            <a:srgbClr val="1E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80" y="96012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14/14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1435608"/>
            <a:ext cx="2633472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0F0"/>
                </a:solidFill>
                <a:latin typeface="Calibri"/>
              </a:rPr>
              <a:t>skenario evaluasi
algoritma sesuai
rancangan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868680"/>
            <a:ext cx="2633472" cy="192024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9320" y="96012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8/8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1435608"/>
            <a:ext cx="2633472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0F0"/>
                </a:solidFill>
                <a:latin typeface="Calibri"/>
              </a:rPr>
              <a:t>aspek UAT Diterima /
Sangat Diterima
(2 sangat diterima)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23960" y="868680"/>
            <a:ext cx="2633472" cy="1920240"/>
          </a:xfrm>
          <a:prstGeom prst="rect">
            <a:avLst/>
          </a:prstGeom>
          <a:solidFill>
            <a:srgbClr val="0D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3960" y="96012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61,25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1435608"/>
            <a:ext cx="2633472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0F0"/>
                </a:solidFill>
                <a:latin typeface="Calibri"/>
              </a:rPr>
              <a:t>skor SUS - kategori
marginal low
(ambang 68)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953511"/>
            <a:ext cx="11548872" cy="87782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" y="3026663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5C1A"/>
                </a:solidFill>
                <a:latin typeface="Calibri"/>
              </a:rPr>
              <a:t>KEY  TAKEAWAY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" y="3264407"/>
            <a:ext cx="112745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  <a:latin typeface="Calibri"/>
              </a:rPr>
              <a:t>Aspek berbasis rekomendasi menonjol: feed rekomendasi dan skor kecocokan Sangat Diterima. SUS marginal low mengindikasikan hambatan pada penyajian breakdown skor, bukan pada kegagalan fungsi - menjadi arah prioritas perbaikan antarmuka berikutnya.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Studi Literatur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Perancangan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5C1A"/>
                </a:solidFill>
                <a:latin typeface="Calibri"/>
              </a:rP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Penutup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27/41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01168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5720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EVALUASI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65760"/>
            <a:ext cx="1017727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41248"/>
            <a:ext cx="12188952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420624"/>
            <a:ext cx="9902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F5C"/>
                </a:solidFill>
                <a:latin typeface="Calibri"/>
              </a:rPr>
              <a:t>Pendekatan tepat sasaran; penyajian perlu dipoles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868680"/>
            <a:ext cx="1280160" cy="365760"/>
          </a:xfrm>
          <a:prstGeom prst="rect">
            <a:avLst/>
          </a:prstGeom>
          <a:solidFill>
            <a:srgbClr val="1E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932688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Yang sudah kuat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868680"/>
            <a:ext cx="4343400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" y="1490472"/>
            <a:ext cx="54864" cy="256032"/>
          </a:xfrm>
          <a:prstGeom prst="rect">
            <a:avLst/>
          </a:prstGeom>
          <a:solidFill>
            <a:srgbClr val="1E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1307592"/>
            <a:ext cx="5257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2E"/>
                </a:solidFill>
                <a:latin typeface="Calibri"/>
              </a:rPr>
              <a:t>Seluruh 14 skenario algoritma berhasil - skor identik dengan perhitungan manual.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" y="2148840"/>
            <a:ext cx="54864" cy="256032"/>
          </a:xfrm>
          <a:prstGeom prst="rect">
            <a:avLst/>
          </a:prstGeom>
          <a:solidFill>
            <a:srgbClr val="1E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1965960"/>
            <a:ext cx="5257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2E"/>
                </a:solidFill>
                <a:latin typeface="Calibri"/>
              </a:rPr>
              <a:t>Feed rekomendasi (UC06) berjalan sesuai threshold 30%; badge warna tampil benar.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" y="2807208"/>
            <a:ext cx="54864" cy="256032"/>
          </a:xfrm>
          <a:prstGeom prst="rect">
            <a:avLst/>
          </a:prstGeom>
          <a:solidFill>
            <a:srgbClr val="1E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2624328"/>
            <a:ext cx="5257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2E"/>
                </a:solidFill>
                <a:latin typeface="Calibri"/>
              </a:rPr>
              <a:t>UAT: feed rekomendasi kegiatan dan skor kecocokan Sangat Diterima.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" y="3465576"/>
            <a:ext cx="54864" cy="256032"/>
          </a:xfrm>
          <a:prstGeom prst="rect">
            <a:avLst/>
          </a:prstGeom>
          <a:solidFill>
            <a:srgbClr val="1E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3282696"/>
            <a:ext cx="5257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2E"/>
                </a:solidFill>
                <a:latin typeface="Calibri"/>
              </a:rPr>
              <a:t>Tidak ada kegagalan fungsional pada 20 skenario black-box.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868680"/>
            <a:ext cx="1280160" cy="365760"/>
          </a:xfrm>
          <a:prstGeom prst="rect">
            <a:avLst/>
          </a:prstGeom>
          <a:solidFill>
            <a:srgbClr val="CC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6792" y="932688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Yang perlu ditingkatkan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43800" y="868680"/>
            <a:ext cx="4343400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73368" y="1490472"/>
            <a:ext cx="54864" cy="256032"/>
          </a:xfrm>
          <a:prstGeom prst="rect">
            <a:avLst/>
          </a:prstGeom>
          <a:solidFill>
            <a:srgbClr val="CC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9672" y="1307592"/>
            <a:ext cx="5257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2E"/>
                </a:solidFill>
                <a:latin typeface="Calibri"/>
              </a:rPr>
              <a:t>SUS marginal - konsistensi &amp; penyajian antarmuka perlu dipoles.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73368" y="2148840"/>
            <a:ext cx="54864" cy="256032"/>
          </a:xfrm>
          <a:prstGeom prst="rect">
            <a:avLst/>
          </a:prstGeom>
          <a:solidFill>
            <a:srgbClr val="CC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9672" y="1965960"/>
            <a:ext cx="5257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2E"/>
                </a:solidFill>
                <a:latin typeface="Calibri"/>
              </a:rPr>
              <a:t>Breakdown skor kontribusi atribut dirasa kurang intuitif (beban kognitif).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73368" y="2807208"/>
            <a:ext cx="54864" cy="256032"/>
          </a:xfrm>
          <a:prstGeom prst="rect">
            <a:avLst/>
          </a:prstGeom>
          <a:solidFill>
            <a:srgbClr val="CC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9672" y="2624328"/>
            <a:ext cx="5257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2E"/>
                </a:solidFill>
                <a:latin typeface="Calibri"/>
              </a:rPr>
              <a:t>Kepadatan informasi di beberapa halaman tidak seimbang.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73368" y="3465576"/>
            <a:ext cx="54864" cy="256032"/>
          </a:xfrm>
          <a:prstGeom prst="rect">
            <a:avLst/>
          </a:prstGeom>
          <a:solidFill>
            <a:srgbClr val="CC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9672" y="3282696"/>
            <a:ext cx="5257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2E"/>
                </a:solidFill>
                <a:latin typeface="Calibri"/>
              </a:rPr>
              <a:t>Status masih prototipe - dasar iterasi pengembangan berikutnya.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Studi Literatur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Perancangan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5C1A"/>
                </a:solidFill>
                <a:latin typeface="Calibri"/>
              </a:rPr>
              <a:t>Penutup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28/41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01168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5720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PENUTUP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65760"/>
            <a:ext cx="1017727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41248"/>
            <a:ext cx="12188952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420624"/>
            <a:ext cx="9902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F5C"/>
                </a:solidFill>
                <a:latin typeface="Calibri"/>
              </a:rPr>
              <a:t>Kedua tujuan penelitian tercapai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795528"/>
            <a:ext cx="9902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7080"/>
                </a:solidFill>
                <a:latin typeface="Calibri"/>
              </a:rPr>
              <a:t>Setiap keputusan teknis terlacak langsung ke masalah pengguna yang mendasarinya.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868680"/>
            <a:ext cx="1417320" cy="2212848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105156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TUJUAN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868680"/>
            <a:ext cx="10104121" cy="22128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74519" y="960120"/>
            <a:ext cx="9948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F5C"/>
                </a:solidFill>
                <a:latin typeface="Calibri"/>
              </a:rPr>
              <a:t>Platform terpusat untuk menemukan kegiatan kolaboratif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1344168"/>
            <a:ext cx="9948672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2E"/>
                </a:solidFill>
                <a:latin typeface="Calibri"/>
              </a:rPr>
              <a:t>8 user needs -&gt; 8 user requirements -&gt; 11 kebutuhan fungsional -&gt; 11 use case yang seluruhnya terimplementasi dan terverifikasi. Feed terbuka bagi seluruh mahasiswa terdaftar menjawab pencarian yang selama ini hanya berputar di lingkaran jaringan sosial tertentu. Black-box 18/20 berhasil; UAT 100% diterima.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200400"/>
            <a:ext cx="1417320" cy="221284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38328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TUJUAN 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37360" y="3200400"/>
            <a:ext cx="10104121" cy="22128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4519" y="3291840"/>
            <a:ext cx="9948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5C1A"/>
                </a:solidFill>
                <a:latin typeface="Calibri"/>
              </a:rPr>
              <a:t>Affinity-Based Matching yang transparan dan dapat dijelaskan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3675888"/>
            <a:ext cx="9948672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2E"/>
                </a:solidFill>
                <a:latin typeface="Calibri"/>
              </a:rPr>
              <a:t>Kombinasi linear berbobot atas lima atribut - skill, minat, gaya kerja, pengalaman, dan preferensi peran - melalui dua sub-algoritma paralel: Demands-Abilities Fit dan Needs-Supplies Fit. Bobot ROC diturunkan dari survei 86 mahasiswa. Evaluasi 14/14 skenario berhasil; skor identik dengan perhitungan manual.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5376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Studi Literatur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1024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1264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Perancangan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548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66"/>
                </a:solidFill>
                <a:latin typeface="Calibri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4864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5C1A"/>
                </a:solidFill>
                <a:latin typeface="Calibri"/>
              </a:rPr>
              <a:t>Penutup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29/41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011680" cy="475488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5720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PENUTUP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65760"/>
            <a:ext cx="1017727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41248"/>
            <a:ext cx="12188952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420624"/>
            <a:ext cx="9902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F5C"/>
                </a:solidFill>
                <a:latin typeface="Calibri"/>
              </a:rPr>
              <a:t>Arah pengembangan selanjutnya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795528"/>
            <a:ext cx="9902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7080"/>
                </a:solidFill>
                <a:latin typeface="Calibri"/>
              </a:rPr>
              <a:t>Sistem masih berstatus prototipe - kekurangan menjadi pijakan iterasi berikutnya.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868680"/>
            <a:ext cx="640080" cy="640080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923544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996696"/>
            <a:ext cx="2688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F5C"/>
                </a:solidFill>
                <a:latin typeface="Calibri"/>
              </a:rPr>
              <a:t>Antarmuka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1618488"/>
            <a:ext cx="3547872" cy="2926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1618488"/>
            <a:ext cx="54864" cy="2926080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1764792"/>
            <a:ext cx="325526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Penyempurnaan breakdown kontribusi atribut agar lebih intuitif - label deskriptif atau narasi ringkas faktor dominan kecocokan. Perbaiki keseimbangan kepadatan informasi antarhalaman.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79" y="868680"/>
            <a:ext cx="640080" cy="64008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79" y="923544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Atribut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7" y="996696"/>
            <a:ext cx="2688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5C1A"/>
                </a:solidFill>
                <a:latin typeface="Calibri"/>
              </a:rPr>
              <a:t>Perluasan &amp; Validasi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79" y="1618488"/>
            <a:ext cx="3547872" cy="2926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79" y="1618488"/>
            <a:ext cx="54864" cy="292608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59" y="1764792"/>
            <a:ext cx="325526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Perluas atribut AffinityEngine (dimensi kepribadian terstandar) dan validasi bobot ROC dengan data pengguna aktual yang lebih besar. Eksplorasi ekstraksi tag otomatis dari deskripsi kegiatan via NLP.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18" y="868680"/>
            <a:ext cx="640080" cy="640080"/>
          </a:xfrm>
          <a:prstGeom prst="rect">
            <a:avLst/>
          </a:prstGeom>
          <a:solidFill>
            <a:srgbClr val="0D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18" y="923544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6" y="996696"/>
            <a:ext cx="2688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62A8"/>
                </a:solidFill>
                <a:latin typeface="Calibri"/>
              </a:rPr>
              <a:t>Fungsionalitas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18" y="1618488"/>
            <a:ext cx="3547872" cy="2926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75318" y="1618488"/>
            <a:ext cx="54864" cy="2926080"/>
          </a:xfrm>
          <a:prstGeom prst="rect">
            <a:avLst/>
          </a:prstGeom>
          <a:solidFill>
            <a:srgbClr val="0D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198" y="1764792"/>
            <a:ext cx="325526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Tambahkan Collaborative Filtering berbasis riwayat pendaftaran sebagai pelengkap untuk mengatasi cold start pada data kegiatan. Integrasikan antarmodul P2P, P2Proj, dan Team Formation.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15585"/>
            <a:ext cx="1218895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BBFF"/>
                </a:solidFill>
                <a:latin typeface="Calibri"/>
              </a:rPr>
              <a:t>II4092  |  TUGAS AKHIR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Terima Kasih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84831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BCCFF"/>
                </a:solidFill>
                <a:latin typeface="Calibri"/>
              </a:rPr>
              <a:t>Modul Rekomendasi People-to-Project menggunakan Affinity-Based Matching
pada Aplikasi Pencarian Peluang Kolaborasi Mahasiswa.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926080"/>
            <a:ext cx="12188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Muhammad Faishal Putra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328416"/>
            <a:ext cx="1218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5C1A"/>
                </a:solidFill>
                <a:latin typeface="Calibri"/>
              </a:rPr>
              <a:t>18222129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3749039"/>
            <a:ext cx="1218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CCFF"/>
                </a:solidFill>
                <a:latin typeface="Calibri"/>
              </a:rPr>
              <a:t>Dosen Pembimbing  |  Dr. Ir. Arry Akhmad Arman, M.T.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059936"/>
            <a:ext cx="1218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07080"/>
                </a:solidFill>
                <a:latin typeface="Calibri"/>
              </a:rPr>
              <a:t>Dosen Penguji  |  ( nama dosen penguji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053328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2F5C"/>
                </a:solidFill>
                <a:latin typeface="Calibri"/>
              </a:rPr>
              <a:t>Pertanyaan &amp; Diskusi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15585"/>
            <a:ext cx="1218895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3716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BBFF"/>
                </a:solidFill>
                <a:latin typeface="Calibri"/>
              </a:rPr>
              <a:t>II4092  |  TUGAS AKHIR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82880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Lampiran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88920"/>
            <a:ext cx="9445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BCCFF"/>
                </a:solidFill>
                <a:latin typeface="Calibri"/>
              </a:rPr>
              <a:t>Materi pendukung - sistem sejenis, batasan, keterlacakan kebutuhan, detail algoritma, serta rincian pengujian &amp; survei.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0533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2F5C"/>
                </a:solidFill>
                <a:latin typeface="Calibri"/>
              </a:rPr>
              <a:t>Institut Teknologi Bandung  | 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5C1A"/>
                </a:solidFill>
                <a:latin typeface="Calibri"/>
              </a:rPr>
              <a:t>LAMPIRAN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73152"/>
            <a:ext cx="10268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  <a:latin typeface="Calibri"/>
              </a:rPr>
              <a:t>Tinjauan Sistem Sejenis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32/41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F5C"/>
                </a:solidFill>
                <a:latin typeface="Calibri"/>
              </a:rPr>
              <a:t>Perbandingan sistem sejenis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932688"/>
            <a:ext cx="2286000" cy="34747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" y="969264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932688"/>
            <a:ext cx="2286000" cy="34747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60904" y="969264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FOKUS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932688"/>
            <a:ext cx="2743200" cy="34747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46904" y="969264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MEKANISME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932688"/>
            <a:ext cx="4389120" cy="34747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969264"/>
            <a:ext cx="4279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KELEMAHAN vs P2Proj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280160"/>
            <a:ext cx="2286000" cy="7132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1335024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2E"/>
                </a:solidFill>
                <a:latin typeface="Calibri"/>
              </a:rPr>
              <a:t>LinkedIn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1280160"/>
            <a:ext cx="2286000" cy="7132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60904" y="1335024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2E"/>
                </a:solidFill>
                <a:latin typeface="Calibri"/>
              </a:rPr>
              <a:t>Rekrutmen profesional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1280160"/>
            <a:ext cx="2743200" cy="7132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46904" y="1335024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2E"/>
                </a:solidFill>
                <a:latin typeface="Calibri"/>
              </a:rPr>
              <a:t>Koneksi manual berbasis riwayat kerja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1280160"/>
            <a:ext cx="4389120" cy="7132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0104" y="1335024"/>
            <a:ext cx="4279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2E"/>
                </a:solidFill>
                <a:latin typeface="Calibri"/>
              </a:rPr>
              <a:t>Bukan konteks kolaborasi mahasiswa; tanpa matching atribut multidimensi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1993392"/>
            <a:ext cx="2286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" y="2048256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2E"/>
                </a:solidFill>
                <a:latin typeface="Calibri"/>
              </a:rPr>
              <a:t>CATME
TeamMaker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40" y="1993392"/>
            <a:ext cx="2286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60904" y="2048256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2E"/>
                </a:solidFill>
                <a:latin typeface="Calibri"/>
              </a:rPr>
              <a:t>Pembentukan tim kelas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92040" y="1993392"/>
            <a:ext cx="27432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46904" y="2048256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2E"/>
                </a:solidFill>
                <a:latin typeface="Calibri"/>
              </a:rPr>
              <a:t>Rule-based berbasis instruktur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1993392"/>
            <a:ext cx="4389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0104" y="2048256"/>
            <a:ext cx="4279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2E"/>
                </a:solidFill>
                <a:latin typeface="Calibri"/>
              </a:rPr>
              <a:t>Terbatas kelas formal; tidak mendukung pencarian kegiatan terbuka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2706624"/>
            <a:ext cx="2286000" cy="7132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" y="2761488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2E"/>
                </a:solidFill>
                <a:latin typeface="Calibri"/>
              </a:rPr>
              <a:t>Kaggle
Team 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06040" y="2706624"/>
            <a:ext cx="2286000" cy="7132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60904" y="2761488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2E"/>
                </a:solidFill>
                <a:latin typeface="Calibri"/>
              </a:rPr>
              <a:t>Partner kompetisi data science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2040" y="2706624"/>
            <a:ext cx="2743200" cy="7132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46904" y="2761488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2E"/>
                </a:solidFill>
                <a:latin typeface="Calibri"/>
              </a:rPr>
              <a:t>Manual, skor kompetisi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35240" y="2706624"/>
            <a:ext cx="4389120" cy="7132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90104" y="2761488"/>
            <a:ext cx="4279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2E"/>
                </a:solidFill>
                <a:latin typeface="Calibri"/>
              </a:rPr>
              <a:t>Tanpa rekomendasi otomatis; domain terbatas pada data science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419856"/>
            <a:ext cx="2286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" y="3474720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2E"/>
                </a:solidFill>
                <a:latin typeface="Calibri"/>
              </a:rPr>
              <a:t>Piazza
Partner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06040" y="3419856"/>
            <a:ext cx="2286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60904" y="3474720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2E"/>
                </a:solidFill>
                <a:latin typeface="Calibri"/>
              </a:rPr>
              <a:t>Partner sesama mahasiswa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92040" y="3419856"/>
            <a:ext cx="27432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46904" y="3474720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2E"/>
                </a:solidFill>
                <a:latin typeface="Calibri"/>
              </a:rPr>
              <a:t>Manual berbasis pengumuman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35240" y="3419856"/>
            <a:ext cx="4389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90104" y="3474720"/>
            <a:ext cx="4279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2E"/>
                </a:solidFill>
                <a:latin typeface="Calibri"/>
              </a:rPr>
              <a:t>Tidak otomatis; terbatas satu mata kuliah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133088"/>
            <a:ext cx="2286000" cy="713232"/>
          </a:xfrm>
          <a:prstGeom prst="rect">
            <a:avLst/>
          </a:prstGeom>
          <a:solidFill>
            <a:srgbClr val="E0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" y="4187952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2E"/>
                </a:solidFill>
                <a:latin typeface="Calibri"/>
              </a:rPr>
              <a:t>Gap -&gt;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06040" y="4133088"/>
            <a:ext cx="2286000" cy="713232"/>
          </a:xfrm>
          <a:prstGeom prst="rect">
            <a:avLst/>
          </a:prstGeom>
          <a:solidFill>
            <a:srgbClr val="E0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60904" y="4187952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2E"/>
                </a:solidFill>
                <a:latin typeface="Calibri"/>
              </a:rPr>
              <a:t>Platform P2Proj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92040" y="4133088"/>
            <a:ext cx="2743200" cy="713232"/>
          </a:xfrm>
          <a:prstGeom prst="rect">
            <a:avLst/>
          </a:prstGeom>
          <a:solidFill>
            <a:srgbClr val="E0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46904" y="4187952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2E"/>
                </a:solidFill>
                <a:latin typeface="Calibri"/>
              </a:rPr>
              <a:t>Affinity-Based Matching (ROC-weighted)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35240" y="4133088"/>
            <a:ext cx="4389120" cy="713232"/>
          </a:xfrm>
          <a:prstGeom prst="rect">
            <a:avLst/>
          </a:prstGeom>
          <a:solidFill>
            <a:srgbClr val="E0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90104" y="4187952"/>
            <a:ext cx="4279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2E"/>
                </a:solidFill>
                <a:latin typeface="Calibri"/>
              </a:rPr>
              <a:t>Terpusat, otomatis, explainable, tahan cold start, lintas latar belakang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" y="4983480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7080"/>
                </a:solidFill>
                <a:latin typeface="Calibri"/>
              </a:rPr>
              <a:t>Gap: belum ada platform rekomendasi terpusat berbasis profil untuk kegiatan kolaboratif mahasiswa yang tahan cold start, transparan, dan lintas latar belakang.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5C1A"/>
                </a:solidFill>
                <a:latin typeface="Calibri"/>
              </a:rPr>
              <a:t>LAMPIRAN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73152"/>
            <a:ext cx="10268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  <a:latin typeface="Calibri"/>
              </a:rPr>
              <a:t>Batasan Masalah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33/41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F5C"/>
                </a:solidFill>
                <a:latin typeface="Calibri"/>
              </a:rPr>
              <a:t>Batasan masalah tugas akhir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969264"/>
            <a:ext cx="402336" cy="402336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996696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969264"/>
            <a:ext cx="11018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2E"/>
                </a:solidFill>
                <a:latin typeface="Calibri"/>
              </a:rPr>
              <a:t>Fokus pada mahasiswa sebagai pengguna utama dalam konteks pencarian kegiatan (people-to-project).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700784"/>
            <a:ext cx="402336" cy="402336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728216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700784"/>
            <a:ext cx="11018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2E"/>
                </a:solidFill>
                <a:latin typeface="Calibri"/>
              </a:rPr>
              <a:t>Terbatas pada modul rekomendasi People-to-Project, tanpa fase interaksi lanjutan setelah tergabung.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432304"/>
            <a:ext cx="402336" cy="402336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459736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432304"/>
            <a:ext cx="11018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2E"/>
                </a:solidFill>
                <a:latin typeface="Calibri"/>
              </a:rPr>
              <a:t>Kecocokan dinilai dari atribut profil yang diisi mandiri; tanpa asesmen psikologis atau tes kepribadian klinis.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163824"/>
            <a:ext cx="402336" cy="402336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191256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163824"/>
            <a:ext cx="11018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2E"/>
                </a:solidFill>
                <a:latin typeface="Calibri"/>
              </a:rPr>
              <a:t>Berbasis knowledge-based &amp; pembobotan atribut dari literatur; tanpa pembuktian matematis formal atau eksperimen machine learning.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895344"/>
            <a:ext cx="402336" cy="402336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922776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895344"/>
            <a:ext cx="11018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2E"/>
                </a:solidFill>
                <a:latin typeface="Calibri"/>
              </a:rPr>
              <a:t>Ditujukan untuk pengujian terbatas dalam konteks akademis, bukan deployment skala produksi.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626864"/>
            <a:ext cx="402336" cy="402336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654296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626864"/>
            <a:ext cx="11018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2E"/>
                </a:solidFill>
                <a:latin typeface="Calibri"/>
              </a:rPr>
              <a:t>Ruang lingkup dibatasi hingga tahap implementasi &amp; pengujian; tanpa maintenance atau operation lanjutan.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5C1A"/>
                </a:solidFill>
                <a:latin typeface="Calibri"/>
              </a:rPr>
              <a:t>LAMPIRAN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73152"/>
            <a:ext cx="10268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  <a:latin typeface="Calibri"/>
              </a:rPr>
              <a:t>Traceability Kebutuhan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34/41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F5C"/>
                </a:solidFill>
                <a:latin typeface="Calibri"/>
              </a:rPr>
              <a:t>Keterlacakan User Needs -&gt; UR -&gt; FR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932688"/>
            <a:ext cx="2560320" cy="34747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" y="969264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USER NEED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932688"/>
            <a:ext cx="3200400" cy="34747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5224" y="969264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USER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932688"/>
            <a:ext cx="6126480" cy="34747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5624" y="969264"/>
            <a:ext cx="6016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KEBUTUHAN FUNGSIONAL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280160"/>
            <a:ext cx="2560320" cy="51206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335024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2F5C"/>
                </a:solidFill>
                <a:latin typeface="Calibri"/>
              </a:rPr>
              <a:t>UN-01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1280160"/>
            <a:ext cx="3200400" cy="51206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1335024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UR-01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280160"/>
            <a:ext cx="6126480" cy="51206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335024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FR-01, FR-11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256032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184708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2F5C"/>
                </a:solidFill>
                <a:latin typeface="Calibri"/>
              </a:rPr>
              <a:t>UN-02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1792224"/>
            <a:ext cx="3200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71800" y="1847088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UR-02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1792224"/>
            <a:ext cx="6126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1847088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FR-01, FR-02, FR-03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304288"/>
            <a:ext cx="2560320" cy="51206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235915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2F5C"/>
                </a:solidFill>
                <a:latin typeface="Calibri"/>
              </a:rPr>
              <a:t>UN-03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360" y="2304288"/>
            <a:ext cx="3200400" cy="51206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71800" y="2359152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UR-03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2304288"/>
            <a:ext cx="6126480" cy="51206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2359152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FR-03, FR-04, FR-09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2816352"/>
            <a:ext cx="256032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2871216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2F5C"/>
                </a:solidFill>
                <a:latin typeface="Calibri"/>
              </a:rPr>
              <a:t>UN-04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80360" y="2816352"/>
            <a:ext cx="3200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71800" y="2871216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UR-04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2816352"/>
            <a:ext cx="6126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2871216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FR-05, FR-06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328416"/>
            <a:ext cx="2560320" cy="51206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3383280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2F5C"/>
                </a:solidFill>
                <a:latin typeface="Calibri"/>
              </a:rPr>
              <a:t>UN-05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80360" y="3328416"/>
            <a:ext cx="3200400" cy="51206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71800" y="3383280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UR-05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3328416"/>
            <a:ext cx="6126480" cy="51206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200" y="3383280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FR-07, FR-08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840480"/>
            <a:ext cx="256032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3895344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2F5C"/>
                </a:solidFill>
                <a:latin typeface="Calibri"/>
              </a:rPr>
              <a:t>UN-06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80360" y="3840480"/>
            <a:ext cx="3200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71800" y="3895344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UR-06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80760" y="3840480"/>
            <a:ext cx="6126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72200" y="3895344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FR-10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4352544"/>
            <a:ext cx="2560320" cy="51206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0740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2F5C"/>
                </a:solidFill>
                <a:latin typeface="Calibri"/>
              </a:rPr>
              <a:t>UN-07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80360" y="4352544"/>
            <a:ext cx="3200400" cy="51206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71800" y="4407408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UR-07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80760" y="4352544"/>
            <a:ext cx="6126480" cy="51206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4407408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FR-02, FR-09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4864608"/>
            <a:ext cx="256032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491947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2F5C"/>
                </a:solidFill>
                <a:latin typeface="Calibri"/>
              </a:rPr>
              <a:t>UN-08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80360" y="4864608"/>
            <a:ext cx="3200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71800" y="4919472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UR-08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80760" y="4864608"/>
            <a:ext cx="6126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72200" y="4919472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FR-03, FR-04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5C1A"/>
                </a:solidFill>
                <a:latin typeface="Calibri"/>
              </a:rPr>
              <a:t>LAMPIRAN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73152"/>
            <a:ext cx="10268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  <a:latin typeface="Calibri"/>
              </a:rPr>
              <a:t>Detail Pembobotan Atribut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35/41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F5C"/>
                </a:solidFill>
                <a:latin typeface="Calibri"/>
              </a:rPr>
              <a:t>Dari peringkat survei ke bobot ROC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932688"/>
            <a:ext cx="5577840" cy="310896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96926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Algoritma 1 - Demands-Abilities Fit  (n = 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43584"/>
            <a:ext cx="1280160" cy="40233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" y="1280160"/>
            <a:ext cx="1170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Skill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243584"/>
            <a:ext cx="1280160" cy="40233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55064" y="1280160"/>
            <a:ext cx="1170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Peringkat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1243584"/>
            <a:ext cx="2194560" cy="40233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35224" y="1280160"/>
            <a:ext cx="20848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w1 = (1/2) x (1/1 + 1/2) = (1/2) x 1,5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1243584"/>
            <a:ext cx="731520" cy="40233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9784" y="1280160"/>
            <a:ext cx="6217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2F5C"/>
                </a:solidFill>
                <a:latin typeface="Calibri"/>
              </a:rPr>
              <a:t>0,750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645920"/>
            <a:ext cx="1280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1682496"/>
            <a:ext cx="1170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Pengalaman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645920"/>
            <a:ext cx="1280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55064" y="1682496"/>
            <a:ext cx="1170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Peringkat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1645920"/>
            <a:ext cx="21945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35224" y="1682496"/>
            <a:ext cx="20848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w2 = (1/2) x (1/2) = 0,25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4920" y="1645920"/>
            <a:ext cx="731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9784" y="1682496"/>
            <a:ext cx="6217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2F5C"/>
                </a:solidFill>
                <a:latin typeface="Calibri"/>
              </a:rPr>
              <a:t>0,250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194560"/>
            <a:ext cx="5577840" cy="310896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" y="223113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Algoritma 2 - Needs-Supplies Fit  (n = 3, gaya kerja &amp; peran seri di peringkat 2-3)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505456"/>
            <a:ext cx="13716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2542031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Minat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91640" y="2505456"/>
            <a:ext cx="13716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46504" y="2542031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Peringkat 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3240" y="2505456"/>
            <a:ext cx="210312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18104" y="2542031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w1 = (1/3) x (1 + 1/2 + 1/3) = (1/3) x 1,833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66360" y="2505456"/>
            <a:ext cx="713232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21224" y="2542031"/>
            <a:ext cx="603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05C1A"/>
                </a:solidFill>
                <a:latin typeface="Calibri"/>
              </a:rPr>
              <a:t>0,611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926080"/>
            <a:ext cx="1371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2962655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Gaya Kerja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91640" y="2926080"/>
            <a:ext cx="1371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46504" y="2962655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Peringkat 2-3 *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63240" y="2926080"/>
            <a:ext cx="21031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18104" y="2962655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w2 = [(5/18) + (1/9)] / 2 = [0,278 + 0,111] /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66360" y="2926080"/>
            <a:ext cx="713232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21224" y="2962655"/>
            <a:ext cx="603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05C1A"/>
                </a:solidFill>
                <a:latin typeface="Calibri"/>
              </a:rPr>
              <a:t>0,194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346704"/>
            <a:ext cx="13716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3383279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Preferensi Peran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91640" y="3346704"/>
            <a:ext cx="13716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746504" y="3383279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Peringkat 2-3 *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63240" y="3346704"/>
            <a:ext cx="210312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18104" y="3383279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w3 = w2  (seri - rata-rata bobot posisi 2 dan 3)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66360" y="3346704"/>
            <a:ext cx="713232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21224" y="3383279"/>
            <a:ext cx="603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05C1A"/>
                </a:solidFill>
                <a:latin typeface="Calibri"/>
              </a:rPr>
              <a:t>0,194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" y="3822192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7080"/>
                </a:solidFill>
                <a:latin typeface="Calibri"/>
              </a:rPr>
              <a:t>* Untuk peringkat seri (tie), bobot ROC = rata-rata bobot dari posisi yang diperebutkan.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5C1A"/>
                </a:solidFill>
                <a:latin typeface="Calibri"/>
              </a:rPr>
              <a:t>LAMPIRAN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73152"/>
            <a:ext cx="10268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  <a:latin typeface="Calibri"/>
              </a:rPr>
              <a:t>Contoh Penelusuran Perhitungan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36/41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F5C"/>
                </a:solidFill>
                <a:latin typeface="Calibri"/>
              </a:rPr>
              <a:t>Contoh perhitungan skor per atribut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932688"/>
            <a:ext cx="2697480" cy="34747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969264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Skill (DA Fit)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80160"/>
            <a:ext cx="2697480" cy="2286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371600"/>
            <a:ext cx="2514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Kegiatan butuh: {Python, SQL, Excel}
Profil mhs.: {Python, SQL, R}
irisan = {Python, SQL} -&gt; 2 dari 3
SkillScore = |irisan| / |dibutuhkan| = 2/3 = 0,667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932688"/>
            <a:ext cx="2697480" cy="347472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969264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Minat (NS Fit)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280160"/>
            <a:ext cx="2697480" cy="2286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371600"/>
            <a:ext cx="2514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Mhs.: {AI, Mobile, Data Science}
Kegiatan: {AI, Mobile, UI/UX}
irisan = 2 ; gabungan = 4
MinatScore = 2/4 = 0,50  (Jaccard)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932688"/>
            <a:ext cx="2697480" cy="347472"/>
          </a:xfrm>
          <a:prstGeom prst="rect">
            <a:avLst/>
          </a:prstGeom>
          <a:solidFill>
            <a:srgbClr val="0D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969264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Gaya Kerja (NS Fit)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280160"/>
            <a:ext cx="2697480" cy="2286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371600"/>
            <a:ext cx="2514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Profil mhs.: Fleksibel (Innovator)
Karakter kegiatan: Fleksibel
GayaScore = 1,0  (sama -&gt; cocok penuh)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932688"/>
            <a:ext cx="2697480" cy="347472"/>
          </a:xfrm>
          <a:prstGeom prst="rect">
            <a:avLst/>
          </a:prstGeom>
          <a:solidFill>
            <a:srgbClr val="0E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969264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Pengalaman (DA Fit)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1280160"/>
            <a:ext cx="2697480" cy="2286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1371600"/>
            <a:ext cx="2514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Syarat: Menengah (min. 1 thn)
Profil mhs.: Pemula (&lt; 1 thn)
Selisih 1 tingkat:
ExpScore = 0,5  (parsial)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3712464"/>
            <a:ext cx="11548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07080"/>
                </a:solidFill>
                <a:latin typeface="Calibri"/>
              </a:rPr>
              <a:t>Setiap skor atribut dalam [0, 1] lalu dikalikan bobotnya dan dijumlahkan menjadi Score_DA dan Score_NS; AffinityScore = 0,5 x Score_DA + 0,5 x Score_NS.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5C1A"/>
                </a:solidFill>
                <a:latin typeface="Calibri"/>
              </a:rPr>
              <a:t>LAMPIRAN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73152"/>
            <a:ext cx="10268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  <a:latin typeface="Calibri"/>
              </a:rPr>
              <a:t>Rincian Black-box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37/41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F5C"/>
                </a:solidFill>
                <a:latin typeface="Calibri"/>
              </a:rPr>
              <a:t>20 skenario black-box - 18 Berhasil, 2 Berhasil dengan Catatan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859536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7080"/>
                </a:solidFill>
                <a:latin typeface="Calibri"/>
              </a:rPr>
              <a:t>TC01-TC20, mencakup skenario normal &amp; alternatif pada 11 use case.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88720"/>
            <a:ext cx="1371600" cy="42062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24358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TC01-TC04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83080" y="1188720"/>
            <a:ext cx="100584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83664" y="1243584"/>
            <a:ext cx="9957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Autentikasi: register (valid &amp; duplikat email), login (valid &amp; gagal)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719072"/>
            <a:ext cx="1371600" cy="42062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77393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TC05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83080" y="1719072"/>
            <a:ext cx="100584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83664" y="1773936"/>
            <a:ext cx="9957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Logout saat sesi aktif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249424"/>
            <a:ext cx="1371600" cy="42062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30428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TC06-TC07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83080" y="2249424"/>
            <a:ext cx="100584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83664" y="2304288"/>
            <a:ext cx="9957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Kelola profil kolaboratif: simpan lengkap &amp; simpan dengan field kosong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779776"/>
            <a:ext cx="1371600" cy="42062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83464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TC08-TC09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2779776"/>
            <a:ext cx="100584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83664" y="2834640"/>
            <a:ext cx="9957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Pencocokan rekomendasi: profil lengkap &amp; profil belum lengkap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310128"/>
            <a:ext cx="1371600" cy="42062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36499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TC10-TC11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83080" y="3310128"/>
            <a:ext cx="10058400" cy="420624"/>
          </a:xfrm>
          <a:prstGeom prst="rect">
            <a:avLst/>
          </a:prstGeom>
          <a:solidFill>
            <a:srgbClr val="FFF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83664" y="3364992"/>
            <a:ext cx="9957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9A06"/>
                </a:solidFill>
                <a:latin typeface="Calibri"/>
              </a:rPr>
              <a:t>Feed rekomendasi: ada kegiatan memenuhi threshold &amp; tidak ada  [catatan]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840480"/>
            <a:ext cx="1371600" cy="42062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89534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TC12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83080" y="3840480"/>
            <a:ext cx="100584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83664" y="3895344"/>
            <a:ext cx="9957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Melihat detail kegiatan dan breakdown skor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370832"/>
            <a:ext cx="1371600" cy="42062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442569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TC13-TC14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83080" y="4370832"/>
            <a:ext cx="100584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83664" y="4425696"/>
            <a:ext cx="9957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Mendaftar: daftar valid &amp; daftar saat profil belum lengkap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901184"/>
            <a:ext cx="1371600" cy="42062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495604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TC15-TC17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83080" y="4901184"/>
            <a:ext cx="100584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83664" y="4956048"/>
            <a:ext cx="9957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Membuat kegiatan: valid, field wajib kosong, tag tidak dipilih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431536"/>
            <a:ext cx="1371600" cy="42062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48640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TC18-TC20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83080" y="5431536"/>
            <a:ext cx="100584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83664" y="5486400"/>
            <a:ext cx="9957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Kelola pendaftar: terima, tolak, tampilkan daftar pendaftar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5376672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7080"/>
                </a:solidFill>
                <a:latin typeface="Calibri"/>
              </a:rPr>
              <a:t>TC10-TC11: kegiatan di ambang threshold 30% - perilaku sistem benar, namun definisi batas inklusif/eksklusif perlu dikonfirmasi.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5C1A"/>
                </a:solidFill>
                <a:latin typeface="Calibri"/>
              </a:rPr>
              <a:t>LAMPIRAN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73152"/>
            <a:ext cx="10268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  <a:latin typeface="Calibri"/>
              </a:rPr>
              <a:t>Rincian Evaluasi Algoritma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38/41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F5C"/>
                </a:solidFill>
                <a:latin typeface="Calibri"/>
              </a:rPr>
              <a:t>14 skenario algoritma - sesuai rancangan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859536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7080"/>
                </a:solidFill>
                <a:latin typeface="Calibri"/>
              </a:rPr>
              <a:t>Hasil sistem dibandingkan dengan perhitungan manual berdasarkan rumus Bab IV.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88720"/>
            <a:ext cx="1371600" cy="60350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261872"/>
            <a:ext cx="12252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AL01-AL02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1188720"/>
            <a:ext cx="4480560" cy="60350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1280160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SkillScore (Jaccard): 0,667 dan 0,00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188720"/>
            <a:ext cx="1371600" cy="60350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261872"/>
            <a:ext cx="12252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AL08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1188720"/>
            <a:ext cx="4480560" cy="60350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280160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MinatScore (Jaccard): 0,50 dan 1,00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901952"/>
            <a:ext cx="1371600" cy="60350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1975104"/>
            <a:ext cx="12252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AL03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1901952"/>
            <a:ext cx="4480560" cy="60350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1993392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ExperienceScore: cocok=1,0, parsial=0,5, tidak cocok=0,0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901952"/>
            <a:ext cx="1371600" cy="60350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1975104"/>
            <a:ext cx="12252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AL09-AL10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1901952"/>
            <a:ext cx="4480560" cy="60350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1993392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GayaScore: sama=1,0 (AL09), beda=0,0 (AL10)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615184"/>
            <a:ext cx="1371600" cy="60350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2688336"/>
            <a:ext cx="12252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AL04-AL05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2615184"/>
            <a:ext cx="4480560" cy="60350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2706624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PeranScore: beda=1,0 (AL04), sama=0,5 (AL05)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615184"/>
            <a:ext cx="1371600" cy="60350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2688336"/>
            <a:ext cx="12252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AL11-AL12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2615184"/>
            <a:ext cx="4480560" cy="60350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2706624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Score_DA dan Score_NS: penjumlahan berbobot &amp; breakdown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328416"/>
            <a:ext cx="1371600" cy="60350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" y="3401568"/>
            <a:ext cx="12252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AL06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37360" y="3328416"/>
            <a:ext cx="4480560" cy="60350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0" y="3419856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AffinityScore gabungan = 0,5xDA + 0,5xNS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328416"/>
            <a:ext cx="1371600" cy="60350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36792" y="3401568"/>
            <a:ext cx="12252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AL13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3328416"/>
            <a:ext cx="4480560" cy="60350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3419856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Batas nilai: seluruh skor dalam [0%, 100%]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041648"/>
            <a:ext cx="1371600" cy="60350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192" y="4114800"/>
            <a:ext cx="12252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AL07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37360" y="4041648"/>
            <a:ext cx="4480560" cy="60350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28800" y="4133088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Ketersediaan waktu: hard constraint - tidak cocok -&gt; tidak muncul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4041648"/>
            <a:ext cx="1371600" cy="60350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36792" y="4114800"/>
            <a:ext cx="12252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AL14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4041648"/>
            <a:ext cx="4480560" cy="60350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0" y="4133088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Konsistensi (reliability): skor stabil untuk input yang sama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5C1A"/>
                </a:solidFill>
                <a:latin typeface="Calibri"/>
              </a:rPr>
              <a:t>LAMPIRAN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73152"/>
            <a:ext cx="10268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  <a:latin typeface="Calibri"/>
              </a:rPr>
              <a:t>Rincian User Acceptance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39/41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F5C"/>
                </a:solidFill>
                <a:latin typeface="Calibri"/>
              </a:rPr>
              <a:t>Hasil UAT per aspek - 10 responden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859536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7080"/>
                </a:solidFill>
                <a:latin typeface="Calibri"/>
              </a:rPr>
              <a:t>Rata-rata skor (skala 1-5); seluruh aspek Diterima / Sangat Diterima.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280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Feed Rekomendasi Kegiatan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261872"/>
            <a:ext cx="5623560" cy="329184"/>
          </a:xfrm>
          <a:prstGeom prst="rect">
            <a:avLst/>
          </a:prstGeom>
          <a:solidFill>
            <a:srgbClr val="1E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31673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9E52"/>
                </a:solidFill>
                <a:latin typeface="Calibri"/>
              </a:rPr>
              <a:t>4,1  -  Sangat Diterima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8105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Skor Kecocokan (AffinityScore)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1880" y="1792224"/>
            <a:ext cx="5486400" cy="329184"/>
          </a:xfrm>
          <a:prstGeom prst="rect">
            <a:avLst/>
          </a:prstGeom>
          <a:solidFill>
            <a:srgbClr val="1E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8470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9E52"/>
                </a:solidFill>
                <a:latin typeface="Calibri"/>
              </a:rPr>
              <a:t>4,0  -  Sangat Diterima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3408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Breakdown Kontribusi Atribut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2322576"/>
            <a:ext cx="5349240" cy="329184"/>
          </a:xfrm>
          <a:prstGeom prst="rect">
            <a:avLst/>
          </a:prstGeom>
          <a:solidFill>
            <a:srgbClr val="0D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23774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62A8"/>
                </a:solidFill>
                <a:latin typeface="Calibri"/>
              </a:rPr>
              <a:t>3,9  -  Diterima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28712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Alur Pendaftaran Kegiatan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1880" y="2852928"/>
            <a:ext cx="5212080" cy="329184"/>
          </a:xfrm>
          <a:prstGeom prst="rect">
            <a:avLst/>
          </a:prstGeom>
          <a:solidFill>
            <a:srgbClr val="0D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29077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62A8"/>
                </a:solidFill>
                <a:latin typeface="Calibri"/>
              </a:rPr>
              <a:t>3,8  -  Diterima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401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Profil Kolaboratif (Edit)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3383280"/>
            <a:ext cx="5212080" cy="329184"/>
          </a:xfrm>
          <a:prstGeom prst="rect">
            <a:avLst/>
          </a:prstGeom>
          <a:solidFill>
            <a:srgbClr val="0D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34381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62A8"/>
                </a:solidFill>
                <a:latin typeface="Calibri"/>
              </a:rPr>
              <a:t>3,8  -  Diterima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Detail Kegiatan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11880" y="3913632"/>
            <a:ext cx="5074920" cy="329184"/>
          </a:xfrm>
          <a:prstGeom prst="rect">
            <a:avLst/>
          </a:prstGeom>
          <a:solidFill>
            <a:srgbClr val="0D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39684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62A8"/>
                </a:solidFill>
                <a:latin typeface="Calibri"/>
              </a:rPr>
              <a:t>3,7  -  Diterima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44622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Buat Kegiatan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11880" y="4443984"/>
            <a:ext cx="5074920" cy="329184"/>
          </a:xfrm>
          <a:prstGeom prst="rect">
            <a:avLst/>
          </a:prstGeom>
          <a:solidFill>
            <a:srgbClr val="0D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44988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62A8"/>
                </a:solidFill>
                <a:latin typeface="Calibri"/>
              </a:rPr>
              <a:t>3,7  -  Diterima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49926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Kelola Pendaftar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11880" y="4974336"/>
            <a:ext cx="4937760" cy="329184"/>
          </a:xfrm>
          <a:prstGeom prst="rect">
            <a:avLst/>
          </a:prstGeom>
          <a:solidFill>
            <a:srgbClr val="0D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41080" y="50292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62A8"/>
                </a:solidFill>
                <a:latin typeface="Calibri"/>
              </a:rPr>
              <a:t>3,6  -  Diterima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7080"/>
                </a:solidFill>
                <a:latin typeface="Calibri"/>
              </a:rPr>
              <a:t>SD = Sangat Diterima (skor rata-rata &gt;= 4,0)  |  D = Diterima (skor rata-rata &gt;= 3,0)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5C1A"/>
                </a:solidFill>
                <a:latin typeface="Calibri"/>
              </a:rPr>
              <a:t>LAMPIRAN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73152"/>
            <a:ext cx="10268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  <a:latin typeface="Calibri"/>
              </a:rPr>
              <a:t>Rincian System Usability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40/41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F5C"/>
                </a:solidFill>
                <a:latin typeface="Calibri"/>
              </a:rPr>
              <a:t>Skor SUS per butir - total 61,25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859536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7080"/>
                </a:solidFill>
                <a:latin typeface="Calibri"/>
              </a:rPr>
              <a:t>Butir ganjil positif (skor - 1); butir genap negatif (5 - skor).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07008"/>
            <a:ext cx="4572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28016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2F5C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207008"/>
            <a:ext cx="45720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1280160"/>
            <a:ext cx="4462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Saya sering menggunakan sistem ini (+)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1207008"/>
            <a:ext cx="9144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4104" y="128016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5C1A"/>
                </a:solidFill>
                <a:latin typeface="Calibri"/>
              </a:rPr>
              <a:t>3,3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627632"/>
            <a:ext cx="457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" y="1700784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2F5C"/>
                </a:solidFill>
                <a:latin typeface="Calibri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1627632"/>
            <a:ext cx="4572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1700784"/>
            <a:ext cx="4462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Sistem ini terlalu rumit (-)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9240" y="1627632"/>
            <a:ext cx="914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4104" y="1700784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5C1A"/>
                </a:solidFill>
                <a:latin typeface="Calibri"/>
              </a:rPr>
              <a:t>2,4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048256"/>
            <a:ext cx="4572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" y="2121408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2F5C"/>
                </a:solidFill>
                <a:latin typeface="Calibri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2048256"/>
            <a:ext cx="45720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2121408"/>
            <a:ext cx="4462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Sistem ini mudah digunakan (+)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9240" y="2048256"/>
            <a:ext cx="9144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4104" y="2121408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5C1A"/>
                </a:solidFill>
                <a:latin typeface="Calibri"/>
              </a:rPr>
              <a:t>2,2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468880"/>
            <a:ext cx="457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4" y="2542032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2F5C"/>
                </a:solidFill>
                <a:latin typeface="Calibri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2468880"/>
            <a:ext cx="4572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" y="2542032"/>
            <a:ext cx="4462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Saya butuh bantuan untuk menggunakan (-)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49240" y="2468880"/>
            <a:ext cx="914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04104" y="254203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5C1A"/>
                </a:solidFill>
                <a:latin typeface="Calibri"/>
              </a:rPr>
              <a:t>1,5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889504"/>
            <a:ext cx="4572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4" y="2962656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2F5C"/>
                </a:solidFill>
                <a:latin typeface="Calibri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2889504"/>
            <a:ext cx="45720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" y="2962656"/>
            <a:ext cx="4462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Fungsi sistem terintegrasi dengan baik (+)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49240" y="2889504"/>
            <a:ext cx="9144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04104" y="2962656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5C1A"/>
                </a:solidFill>
                <a:latin typeface="Calibri"/>
              </a:rPr>
              <a:t>2,4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310128"/>
            <a:ext cx="457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4" y="338328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2F5C"/>
                </a:solidFill>
                <a:latin typeface="Calibri"/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3310128"/>
            <a:ext cx="4572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" y="3383280"/>
            <a:ext cx="4462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Ada terlalu banyak ketidakkonsistenan (-)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49240" y="3310128"/>
            <a:ext cx="914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04104" y="338328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5C1A"/>
                </a:solidFill>
                <a:latin typeface="Calibri"/>
              </a:rPr>
              <a:t>2,0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730752"/>
            <a:ext cx="4572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4904" y="3803904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2F5C"/>
                </a:solidFill>
                <a:latin typeface="Calibri"/>
              </a:rPr>
              <a:t>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3730752"/>
            <a:ext cx="45720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104" y="3803904"/>
            <a:ext cx="4462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Banyak orang akan cepat memahami (+)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49240" y="3730752"/>
            <a:ext cx="9144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04104" y="3803904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5C1A"/>
                </a:solidFill>
                <a:latin typeface="Calibri"/>
              </a:rPr>
              <a:t>2,7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4151376"/>
            <a:ext cx="457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4904" y="4224528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2F5C"/>
                </a:solidFill>
                <a:latin typeface="Calibri"/>
              </a:rPr>
              <a:t>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" y="4151376"/>
            <a:ext cx="4572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2104" y="4224528"/>
            <a:ext cx="4462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Sistem ini membingungkan (-)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49240" y="4151376"/>
            <a:ext cx="914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04104" y="4224528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5C1A"/>
                </a:solidFill>
                <a:latin typeface="Calibri"/>
              </a:rPr>
              <a:t>2,9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4572000"/>
            <a:ext cx="4572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4904" y="4645152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2F5C"/>
                </a:solidFill>
                <a:latin typeface="Calibri"/>
              </a:rPr>
              <a:t>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" y="4572000"/>
            <a:ext cx="45720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2104" y="4645152"/>
            <a:ext cx="4462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Saya merasa percaya diri menggunakan (+)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49240" y="4572000"/>
            <a:ext cx="914400" cy="42062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04104" y="464515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5C1A"/>
                </a:solidFill>
                <a:latin typeface="Calibri"/>
              </a:rPr>
              <a:t>2,9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4992624"/>
            <a:ext cx="457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74904" y="5065776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2F5C"/>
                </a:solidFill>
                <a:latin typeface="Calibri"/>
              </a:rPr>
              <a:t>10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7240" y="4992624"/>
            <a:ext cx="4572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2104" y="5065776"/>
            <a:ext cx="4462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Saya perlu mempelajari banyak hal dulu (-)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49240" y="4992624"/>
            <a:ext cx="914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04104" y="5065776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5C1A"/>
                </a:solidFill>
                <a:latin typeface="Calibri"/>
              </a:rPr>
              <a:t>2,2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83680" y="932688"/>
            <a:ext cx="5285232" cy="51206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75120" y="10607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7080"/>
                </a:solidFill>
                <a:latin typeface="Calibri"/>
              </a:rPr>
              <a:t>Total kontribusi semua butir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75120" y="137160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2F5C"/>
                </a:solidFill>
                <a:latin typeface="Calibri"/>
              </a:rPr>
              <a:t>24,5 x 2,5 = 61,25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75120" y="1901952"/>
            <a:ext cx="4846320" cy="27432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20299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7080"/>
                </a:solidFill>
                <a:latin typeface="Calibri"/>
              </a:rPr>
              <a:t>Skor SUS akhir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75120" y="2359152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B2F5C"/>
                </a:solidFill>
                <a:latin typeface="Calibri"/>
              </a:rPr>
              <a:t>61,25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75120" y="3182112"/>
            <a:ext cx="4846320" cy="457200"/>
          </a:xfrm>
          <a:prstGeom prst="rect">
            <a:avLst/>
          </a:prstGeom>
          <a:solidFill>
            <a:srgbClr val="CC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75120" y="32369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Kategori: Marginal Low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75120" y="37490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1C2E"/>
                </a:solidFill>
                <a:latin typeface="Calibri"/>
              </a:rPr>
              <a:t>Sedikit di bawah ambang penerimaan 68.
Hambatan utama: penyajian antarmuka, bukan kegagalan fungsi.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5C1A"/>
                </a:solidFill>
                <a:latin typeface="Calibri"/>
              </a:rPr>
              <a:t>LAMPIRAN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73152"/>
            <a:ext cx="10268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  <a:latin typeface="Calibri"/>
              </a:rPr>
              <a:t>Rincian Hasil Survei - 86 Responden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  <a:latin typeface="Calibri"/>
              </a:rPr>
              <a:t>Muhammad Faishal Putra | 18222129 | People-to-Project | ITB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638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  <a:latin typeface="Calibri"/>
              </a:rPr>
              <a:t>41/41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F5C"/>
                </a:solidFill>
                <a:latin typeface="Calibri"/>
              </a:rPr>
              <a:t>Temuan utama survei pendahuluan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9326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F5C"/>
                </a:solidFill>
                <a:latin typeface="Calibri"/>
              </a:rPr>
              <a:t>Cara menemukan kegiatan kolaboratif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371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Teman dekat / kenalan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353312"/>
            <a:ext cx="1518269" cy="32918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15749" y="137160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F5C"/>
                </a:solidFill>
                <a:latin typeface="Calibri"/>
              </a:rPr>
              <a:t>59,3%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938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Media sosial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1920240"/>
            <a:ext cx="1400495" cy="32918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7975" y="193852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F5C"/>
                </a:solidFill>
                <a:latin typeface="Calibri"/>
              </a:rPr>
              <a:t>54,7%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5054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Grup percakapan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2487168"/>
            <a:ext cx="1100937" cy="32918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8417" y="250545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F5C"/>
                </a:solidFill>
                <a:latin typeface="Calibri"/>
              </a:rPr>
              <a:t>43,0%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0723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Rekomendasi dosen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3054096"/>
            <a:ext cx="921715" cy="32918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9195" y="307238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F5C"/>
                </a:solidFill>
                <a:latin typeface="Calibri"/>
              </a:rPr>
              <a:t>36,0%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6393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Platform khusus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3621024"/>
            <a:ext cx="327720" cy="329184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25200" y="363931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F5C"/>
                </a:solidFill>
                <a:latin typeface="Calibri"/>
              </a:rPr>
              <a:t>12,8%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93268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F5C"/>
                </a:solidFill>
                <a:latin typeface="Calibri"/>
              </a:rPr>
              <a:t>Kesulitan utama dalam mencari kegiatan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371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Skill yang sesuai tidak diketahui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1080" y="1353312"/>
            <a:ext cx="1400495" cy="329184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33015" y="137160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5C1A"/>
                </a:solidFill>
                <a:latin typeface="Calibri"/>
              </a:rPr>
              <a:t>54,7%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938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Ketersediaan waktu tidak cocok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1080" y="1920240"/>
            <a:ext cx="1131661" cy="329184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64181" y="193852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5C1A"/>
                </a:solidFill>
                <a:latin typeface="Calibri"/>
              </a:rPr>
              <a:t>44,2%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5054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Minat tidak tersalurkan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41080" y="2487168"/>
            <a:ext cx="1190548" cy="329184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23068" y="250545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5C1A"/>
                </a:solidFill>
                <a:latin typeface="Calibri"/>
              </a:rPr>
              <a:t>46,5%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0723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Relasi terbatas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3054096"/>
            <a:ext cx="1280160" cy="329184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12680" y="307238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5C1A"/>
                </a:solidFill>
                <a:latin typeface="Calibri"/>
              </a:rPr>
              <a:t>50,0%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639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Profil kegiatan tidak terpusat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41080" y="3621024"/>
            <a:ext cx="745053" cy="329184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77573" y="363931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5C1A"/>
                </a:solidFill>
                <a:latin typeface="Calibri"/>
              </a:rPr>
              <a:t>29,1%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2E"/>
                </a:solidFill>
                <a:latin typeface="Calibri"/>
              </a:rPr>
              <a:t>Tidak tahu pengalaman diperlukan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41080" y="4187952"/>
            <a:ext cx="476219" cy="329184"/>
          </a:xfrm>
          <a:prstGeom prst="rect">
            <a:avLst/>
          </a:prstGeom>
          <a:solidFill>
            <a:srgbClr val="E0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08739" y="420624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5C1A"/>
                </a:solidFill>
                <a:latin typeface="Calibri"/>
              </a:rPr>
              <a:t>18,6%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4864608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7080"/>
                </a:solidFill>
                <a:latin typeface="Calibri"/>
              </a:rPr>
              <a:t>Nilai dalam persen - pertanyaan multi-select (total dapat melebihi 100%).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